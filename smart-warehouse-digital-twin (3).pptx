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56" r:id="rId3"/>
    <p:sldId id="257" r:id="rId4"/>
    <p:sldId id="258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5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solution submission template — fill in all fields and place your project icon in the top-right circle before submitting.</a:t>
            </a:r>
          </a:p>
        </p:txBody>
      </p:sp>
    </p:spTree>
    <p:extLst>
      <p:ext uri="{BB962C8B-B14F-4D97-AF65-F5344CB8AC3E}">
        <p14:creationId xmlns:p14="http://schemas.microsoft.com/office/powerpoint/2010/main" val="1065468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歡迎各位。今天我們要介紹的是「智慧倉儲數位孿生培訓平臺」。這個平臺的核心功能，是幫助新進員工快速認識倉庫地形、掌握每一個儲位的位置，縮短從報到到獨立上線的時間。傳統的倉庫帶教仰賴紙本圖面與口頭說明，效率有限；我們希望透過 3D 數位孿生，讓新人在進入現場前就能建立完整的空間記憶。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在導入 3D 平臺之前，新人認識倉庫地形面臨五大痛點。第一，空間認知困難，倉庫空間大、儲位多，新人難以在短時間內建立整體空間感。第二，2D 平面圖缺乏立體感與動線體驗，只看紙面難以對應真實環境。第三，口頭或紙本帶教難以準確對應每一個儲位的真實位置。第四，現場帶場成本高，必須占用資深人員與作業空間。第五，新人獨立上線後定位錯誤率高，影響作業效率與準確度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我們的解決方案是 3D 數位孿生培訓平臺。首先，真實比例 3D 倉庫模型讓儲位編號、層架與走道位置一目瞭然。其次，第一人稱視角模擬讓新人彷彿親自在倉庫中行走，用身體記住地形與動線。第三，自由導航與點擊定位讓新人能任意角度移動，點擊任一儲位即可顯示其編號與屬性，做到「知道每一個儲位在哪」。最後，所有練習都在虛擬環境中進行，可以反覆操作，也不影響現場作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 2D 到 3D，地形認知的效果有顯著差異。在空間認知速度方面，2D 紙圖需要反覆對照，3D 沉浸式探索則能快速建立空間感。在儲位定位準確率方面，2D 是抽象對照，3D 則以真實比例對位。在獨立上線時間方面，2D 仰賴長時間現場帶場，3D 則讓新人透過自主反覆練習更快獨立作業。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總結來說，智慧倉儲數位孿生培訓平臺讓新人能夠快速認識倉庫地形、準確定位每一個儲位，同時減少現場帶教成本與作業錯誤。這不只是一套訓練工具，更是提升倉儲人力素質與作業效率的關鍵投資。謝謝各位的聆聽，歡迎提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pdash01.tb.pegatroncorp.com/%E5%84%B2%E4%BD%8D%E7%9C%8B%E6%9D%BF/storage-dashboard-3d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0ABC2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Box 4"/>
          <p:cNvSpPr txBox="1"/>
          <p:nvPr/>
        </p:nvSpPr>
        <p:spPr>
          <a:xfrm>
            <a:off x="449580" y="135255"/>
            <a:ext cx="34053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/>
                <a:ea typeface="SimHei"/>
                <a:cs typeface="Segoe UI"/>
              </a:rPr>
              <a:t>AI SOLUTION SUBMISSION</a:t>
            </a:r>
          </a:p>
        </p:txBody>
      </p:sp>
      <p:sp>
        <p:nvSpPr>
          <p:cNvPr id="5" name="Rectangle 5"/>
          <p:cNvSpPr/>
          <p:nvPr/>
        </p:nvSpPr>
        <p:spPr>
          <a:xfrm>
            <a:off x="0" y="533400"/>
            <a:ext cx="12192000" cy="28575"/>
          </a:xfrm>
          <a:prstGeom prst="rect">
            <a:avLst/>
          </a:prstGeom>
          <a:solidFill>
            <a:srgbClr val="A69060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1018539" y="1782367"/>
            <a:ext cx="8411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A69060"/>
                </a:solidFill>
                <a:latin typeface="Arial"/>
                <a:ea typeface="Microsoft YaHei"/>
                <a:cs typeface="Arial"/>
              </a:rPr>
              <a:t>PLACE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99603" y="1921908"/>
            <a:ext cx="5580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A69060"/>
                </a:solidFill>
                <a:latin typeface="Arial"/>
                <a:ea typeface="Microsoft YaHei"/>
                <a:cs typeface="Arial"/>
              </a:rPr>
              <a:t>ICON HERE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76250" y="685800"/>
            <a:ext cx="9906000" cy="571500"/>
          </a:xfrm>
          <a:prstGeom prst="roundRect">
            <a:avLst>
              <a:gd name="adj" fmla="val 10000"/>
            </a:avLst>
          </a:prstGeom>
          <a:solidFill>
            <a:srgbClr val="F5F0E6"/>
          </a:solidFill>
          <a:ln w="9525">
            <a:solidFill>
              <a:srgbClr val="D4CFC4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15315" y="782002"/>
            <a:ext cx="1033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BC2"/>
                </a:solidFill>
                <a:latin typeface="Segoe UI"/>
                <a:ea typeface="SimHei"/>
                <a:cs typeface="Segoe UI"/>
              </a:rPr>
              <a:t>PROJECT TITLE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1505" y="997268"/>
            <a:ext cx="18885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350" b="0"/>
              <a:t>Smart Warehouse Digital Twin Training Platform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" y="1409700"/>
            <a:ext cx="3238500" cy="552450"/>
          </a:xfrm>
          <a:prstGeom prst="roundRect">
            <a:avLst>
              <a:gd name="adj" fmla="val 10345"/>
            </a:avLst>
          </a:prstGeom>
          <a:solidFill>
            <a:srgbClr val="F5F0E6"/>
          </a:solidFill>
          <a:ln w="9525">
            <a:solidFill>
              <a:srgbClr val="D4CFC4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617220" y="1503045"/>
            <a:ext cx="1220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ABC2"/>
                </a:solidFill>
                <a:latin typeface="Segoe UI"/>
                <a:ea typeface="SimHei"/>
                <a:cs typeface="Segoe UI"/>
              </a:rPr>
              <a:t>EMPLOYEE NAME &amp; ID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5315" y="1715452"/>
            <a:ext cx="46006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0" dirty="0" smtClean="0"/>
              <a:t>ZIY_YAN</a:t>
            </a:r>
            <a:endParaRPr sz="1050" b="0" dirty="0"/>
          </a:p>
        </p:txBody>
      </p:sp>
      <p:sp>
        <p:nvSpPr>
          <p:cNvPr id="16" name="Rectangle 16"/>
          <p:cNvSpPr/>
          <p:nvPr/>
        </p:nvSpPr>
        <p:spPr>
          <a:xfrm>
            <a:off x="3905250" y="1409700"/>
            <a:ext cx="2667000" cy="552450"/>
          </a:xfrm>
          <a:prstGeom prst="roundRect">
            <a:avLst>
              <a:gd name="adj" fmla="val 10345"/>
            </a:avLst>
          </a:prstGeom>
          <a:solidFill>
            <a:srgbClr val="F5F0E6"/>
          </a:solidFill>
          <a:ln w="9525">
            <a:solidFill>
              <a:srgbClr val="D4CFC4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4046220" y="1503045"/>
            <a:ext cx="5332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ABC2"/>
                </a:solidFill>
                <a:latin typeface="Segoe UI"/>
                <a:ea typeface="SimHei"/>
                <a:cs typeface="Segoe UI"/>
              </a:rPr>
              <a:t>FACTORY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44315" y="1715452"/>
            <a:ext cx="19075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0" dirty="0" smtClean="0"/>
              <a:t>ALL</a:t>
            </a:r>
            <a:endParaRPr sz="1050" b="0" dirty="0"/>
          </a:p>
        </p:txBody>
      </p:sp>
      <p:sp>
        <p:nvSpPr>
          <p:cNvPr id="19" name="Rectangle 19"/>
          <p:cNvSpPr/>
          <p:nvPr/>
        </p:nvSpPr>
        <p:spPr>
          <a:xfrm>
            <a:off x="6762750" y="1409700"/>
            <a:ext cx="3619500" cy="552450"/>
          </a:xfrm>
          <a:prstGeom prst="roundRect">
            <a:avLst>
              <a:gd name="adj" fmla="val 10345"/>
            </a:avLst>
          </a:prstGeom>
          <a:solidFill>
            <a:srgbClr val="F5F0E6"/>
          </a:solidFill>
          <a:ln w="9525">
            <a:solidFill>
              <a:srgbClr val="D4CFC4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6903720" y="1503045"/>
            <a:ext cx="7411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ABC2"/>
                </a:solidFill>
                <a:latin typeface="Segoe UI"/>
                <a:ea typeface="SimHei"/>
                <a:cs typeface="Segoe UI"/>
              </a:rPr>
              <a:t>DEPARTMENT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01815" y="1715452"/>
            <a:ext cx="320601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0" dirty="0" smtClean="0"/>
              <a:t>AOTU</a:t>
            </a:r>
            <a:endParaRPr sz="1050" b="0" dirty="0"/>
          </a:p>
        </p:txBody>
      </p:sp>
      <p:grpSp>
        <p:nvGrpSpPr>
          <p:cNvPr id="31" name="Group 31"/>
          <p:cNvGrpSpPr/>
          <p:nvPr/>
        </p:nvGrpSpPr>
        <p:grpSpPr>
          <a:xfrm>
            <a:off x="476250" y="2133600"/>
            <a:ext cx="10477500" cy="1409700"/>
            <a:chOff x="476250" y="2133600"/>
            <a:chExt cx="10477500" cy="1409700"/>
          </a:xfrm>
        </p:grpSpPr>
        <p:sp>
          <p:nvSpPr>
            <p:cNvPr id="22" name="Rectangle 22"/>
            <p:cNvSpPr/>
            <p:nvPr/>
          </p:nvSpPr>
          <p:spPr>
            <a:xfrm>
              <a:off x="476250" y="2133600"/>
              <a:ext cx="47625" cy="1409700"/>
            </a:xfrm>
            <a:prstGeom prst="roundRect">
              <a:avLst>
                <a:gd name="adj" fmla="val 40000"/>
              </a:avLst>
            </a:prstGeom>
            <a:solidFill>
              <a:srgbClr val="00ABC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23875" y="2133600"/>
              <a:ext cx="10429875" cy="1409700"/>
            </a:xfrm>
            <a:prstGeom prst="roundRect">
              <a:avLst>
                <a:gd name="adj" fmla="val 4054"/>
              </a:avLst>
            </a:prstGeom>
            <a:solidFill>
              <a:srgbClr val="F5F0E6"/>
            </a:solidFill>
            <a:ln w="9525">
              <a:solidFill>
                <a:srgbClr val="D4CFC4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692944" y="2228850"/>
              <a:ext cx="157162" cy="209550"/>
            </a:xfrm>
            <a:custGeom>
              <a:avLst/>
              <a:gdLst/>
              <a:ahLst/>
              <a:cxnLst/>
              <a:rect l="l" t="t" r="r" b="b"/>
              <a:pathLst>
                <a:path w="157162" h="209550">
                  <a:moveTo>
                    <a:pt x="39291" y="150614"/>
                  </a:moveTo>
                  <a:lnTo>
                    <a:pt x="39291" y="189905"/>
                  </a:lnTo>
                  <a:lnTo>
                    <a:pt x="58936" y="209550"/>
                  </a:lnTo>
                  <a:lnTo>
                    <a:pt x="98227" y="209550"/>
                  </a:lnTo>
                  <a:lnTo>
                    <a:pt x="117872" y="189905"/>
                  </a:lnTo>
                  <a:lnTo>
                    <a:pt x="117872" y="150614"/>
                  </a:lnTo>
                  <a:lnTo>
                    <a:pt x="134107" y="134379"/>
                  </a:lnTo>
                  <a:cubicBezTo>
                    <a:pt x="148870" y="119617"/>
                    <a:pt x="157162" y="99555"/>
                    <a:pt x="157162" y="78678"/>
                  </a:cubicBezTo>
                  <a:cubicBezTo>
                    <a:pt x="157162" y="35278"/>
                    <a:pt x="121980" y="0"/>
                    <a:pt x="78581" y="0"/>
                  </a:cubicBezTo>
                  <a:cubicBezTo>
                    <a:pt x="35182" y="0"/>
                    <a:pt x="0" y="35278"/>
                    <a:pt x="0" y="78678"/>
                  </a:cubicBezTo>
                  <a:cubicBezTo>
                    <a:pt x="0" y="99555"/>
                    <a:pt x="8293" y="119617"/>
                    <a:pt x="23056" y="134379"/>
                  </a:cubicBezTo>
                  <a:lnTo>
                    <a:pt x="39291" y="150614"/>
                  </a:lnTo>
                  <a:close/>
                  <a:moveTo>
                    <a:pt x="65484" y="129318"/>
                  </a:moveTo>
                  <a:lnTo>
                    <a:pt x="65484" y="78581"/>
                  </a:lnTo>
                  <a:lnTo>
                    <a:pt x="91678" y="78581"/>
                  </a:lnTo>
                  <a:lnTo>
                    <a:pt x="91678" y="129318"/>
                  </a:lnTo>
                  <a:cubicBezTo>
                    <a:pt x="114273" y="123503"/>
                    <a:pt x="130969" y="102992"/>
                    <a:pt x="130969" y="78581"/>
                  </a:cubicBezTo>
                  <a:cubicBezTo>
                    <a:pt x="130969" y="49648"/>
                    <a:pt x="107514" y="26194"/>
                    <a:pt x="78581" y="26194"/>
                  </a:cubicBezTo>
                  <a:cubicBezTo>
                    <a:pt x="49648" y="26194"/>
                    <a:pt x="26194" y="49648"/>
                    <a:pt x="26194" y="78581"/>
                  </a:cubicBezTo>
                  <a:cubicBezTo>
                    <a:pt x="26194" y="102992"/>
                    <a:pt x="42889" y="123503"/>
                    <a:pt x="65484" y="129318"/>
                  </a:cubicBezTo>
                  <a:close/>
                </a:path>
              </a:pathLst>
            </a:custGeom>
            <a:solidFill>
              <a:srgbClr val="00ABC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8210" y="2261235"/>
              <a:ext cx="1584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ABC2"/>
                  </a:solidFill>
                  <a:latin typeface="Segoe UI"/>
                  <a:ea typeface="SimHei"/>
                  <a:cs typeface="Segoe UI"/>
                </a:rPr>
                <a:t>Problem Statement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82215" y="22774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6E"/>
                  </a:solidFill>
                  <a:latin typeface="Arial"/>
                  <a:ea typeface="Microsoft YaHei"/>
                  <a:cs typeface="Arial"/>
                </a:rPr>
                <a:t>— The 'Why'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320" y="2531745"/>
              <a:ext cx="2699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E"/>
                  </a:solidFill>
                  <a:latin typeface="Arial"/>
                  <a:ea typeface="Microsoft YaHei"/>
                  <a:cs typeface="Arial"/>
                </a:rPr>
                <a:t>What inefficiency / pain point is being solved?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66750" y="28575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rgbClr val="D4CFC4"/>
              </a:solidFill>
              <a:custDash>
                <a:ds d="800000" sp="600000"/>
              </a:custDash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Line 29"/>
            <p:cNvSpPr/>
            <p:nvPr/>
          </p:nvSpPr>
          <p:spPr>
            <a:xfrm>
              <a:off x="666750" y="31051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rgbClr val="D4CFC4"/>
              </a:solidFill>
              <a:custDash>
                <a:ds d="800000" sp="600000"/>
              </a:custDash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666750" y="33528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rgbClr val="D4CFC4"/>
              </a:solidFill>
              <a:custDash>
                <a:ds d="800000" sp="600000"/>
              </a:custDash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6250" y="3695699"/>
            <a:ext cx="10528066" cy="1579959"/>
            <a:chOff x="476250" y="3695700"/>
            <a:chExt cx="10477500" cy="1409700"/>
          </a:xfrm>
        </p:grpSpPr>
        <p:sp>
          <p:nvSpPr>
            <p:cNvPr id="32" name="Rectangle 32"/>
            <p:cNvSpPr/>
            <p:nvPr/>
          </p:nvSpPr>
          <p:spPr>
            <a:xfrm>
              <a:off x="476250" y="3695700"/>
              <a:ext cx="47625" cy="1409700"/>
            </a:xfrm>
            <a:prstGeom prst="roundRect">
              <a:avLst>
                <a:gd name="adj" fmla="val 40000"/>
              </a:avLst>
            </a:prstGeom>
            <a:solidFill>
              <a:srgbClr val="A69060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23875" y="3695700"/>
              <a:ext cx="10429875" cy="1409700"/>
            </a:xfrm>
            <a:prstGeom prst="roundRect">
              <a:avLst>
                <a:gd name="adj" fmla="val 4054"/>
              </a:avLst>
            </a:prstGeom>
            <a:solidFill>
              <a:srgbClr val="F5F0E6"/>
            </a:solidFill>
            <a:ln w="9525">
              <a:solidFill>
                <a:srgbClr val="D4CFC4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666750" y="3790950"/>
              <a:ext cx="209550" cy="196453"/>
            </a:xfrm>
            <a:custGeom>
              <a:avLst/>
              <a:gdLst/>
              <a:ahLst/>
              <a:cxnLst/>
              <a:rect l="l" t="t" r="r" b="b"/>
              <a:pathLst>
                <a:path w="209550" h="196453">
                  <a:moveTo>
                    <a:pt x="117872" y="0"/>
                  </a:moveTo>
                  <a:lnTo>
                    <a:pt x="117872" y="26194"/>
                  </a:lnTo>
                  <a:lnTo>
                    <a:pt x="170259" y="26194"/>
                  </a:lnTo>
                  <a:lnTo>
                    <a:pt x="209550" y="111323"/>
                  </a:lnTo>
                  <a:lnTo>
                    <a:pt x="170259" y="196453"/>
                  </a:lnTo>
                  <a:lnTo>
                    <a:pt x="39291" y="196453"/>
                  </a:lnTo>
                  <a:lnTo>
                    <a:pt x="0" y="111323"/>
                  </a:lnTo>
                  <a:lnTo>
                    <a:pt x="39291" y="26194"/>
                  </a:lnTo>
                  <a:lnTo>
                    <a:pt x="91678" y="26194"/>
                  </a:lnTo>
                  <a:lnTo>
                    <a:pt x="91678" y="0"/>
                  </a:lnTo>
                  <a:lnTo>
                    <a:pt x="117872" y="0"/>
                  </a:lnTo>
                  <a:close/>
                  <a:moveTo>
                    <a:pt x="60219" y="153736"/>
                  </a:moveTo>
                  <a:lnTo>
                    <a:pt x="104775" y="160591"/>
                  </a:lnTo>
                  <a:lnTo>
                    <a:pt x="149332" y="153736"/>
                  </a:lnTo>
                  <a:lnTo>
                    <a:pt x="145348" y="127847"/>
                  </a:lnTo>
                  <a:lnTo>
                    <a:pt x="104775" y="134088"/>
                  </a:lnTo>
                  <a:lnTo>
                    <a:pt x="64202" y="127847"/>
                  </a:lnTo>
                  <a:lnTo>
                    <a:pt x="60219" y="153736"/>
                  </a:lnTo>
                  <a:close/>
                  <a:moveTo>
                    <a:pt x="91678" y="88404"/>
                  </a:moveTo>
                  <a:cubicBezTo>
                    <a:pt x="91678" y="97445"/>
                    <a:pt x="84349" y="104775"/>
                    <a:pt x="75307" y="104775"/>
                  </a:cubicBezTo>
                  <a:cubicBezTo>
                    <a:pt x="66265" y="104775"/>
                    <a:pt x="58936" y="97445"/>
                    <a:pt x="58936" y="88404"/>
                  </a:cubicBezTo>
                  <a:cubicBezTo>
                    <a:pt x="58936" y="79362"/>
                    <a:pt x="66265" y="72033"/>
                    <a:pt x="75307" y="72033"/>
                  </a:cubicBezTo>
                  <a:cubicBezTo>
                    <a:pt x="84349" y="72033"/>
                    <a:pt x="91678" y="79362"/>
                    <a:pt x="91678" y="88404"/>
                  </a:cubicBezTo>
                  <a:close/>
                  <a:moveTo>
                    <a:pt x="134243" y="104775"/>
                  </a:moveTo>
                  <a:cubicBezTo>
                    <a:pt x="143285" y="104775"/>
                    <a:pt x="150614" y="97445"/>
                    <a:pt x="150614" y="88404"/>
                  </a:cubicBezTo>
                  <a:cubicBezTo>
                    <a:pt x="150614" y="79362"/>
                    <a:pt x="143285" y="72033"/>
                    <a:pt x="134243" y="72033"/>
                  </a:cubicBezTo>
                  <a:cubicBezTo>
                    <a:pt x="125201" y="72033"/>
                    <a:pt x="117872" y="79362"/>
                    <a:pt x="117872" y="88404"/>
                  </a:cubicBezTo>
                  <a:cubicBezTo>
                    <a:pt x="117872" y="97445"/>
                    <a:pt x="125201" y="104775"/>
                    <a:pt x="134243" y="104775"/>
                  </a:cubicBezTo>
                  <a:close/>
                </a:path>
              </a:pathLst>
            </a:custGeom>
            <a:solidFill>
              <a:srgbClr val="A69060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8210" y="3823335"/>
              <a:ext cx="8789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69060"/>
                  </a:solidFill>
                  <a:latin typeface="Segoe UI"/>
                  <a:ea typeface="SimHei"/>
                  <a:cs typeface="Segoe UI"/>
                </a:rPr>
                <a:t>AI Solution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10715" y="3839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6E"/>
                  </a:solidFill>
                  <a:latin typeface="Arial"/>
                  <a:ea typeface="Microsoft YaHei"/>
                  <a:cs typeface="Arial"/>
                </a:rPr>
                <a:t>— The 'How'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320" y="4093845"/>
              <a:ext cx="26211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E"/>
                  </a:solidFill>
                  <a:latin typeface="Arial"/>
                  <a:ea typeface="Microsoft YaHei"/>
                  <a:cs typeface="Arial"/>
                </a:rPr>
                <a:t>What tools / prompts / workflows are used?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66750" y="44196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rgbClr val="D4CFC4"/>
              </a:solidFill>
              <a:custDash>
                <a:ds d="800000" sp="600000"/>
              </a:custDash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Line 39"/>
            <p:cNvSpPr/>
            <p:nvPr/>
          </p:nvSpPr>
          <p:spPr>
            <a:xfrm>
              <a:off x="666750" y="46672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rgbClr val="D4CFC4"/>
              </a:solidFill>
              <a:custDash>
                <a:ds d="800000" sp="600000"/>
              </a:custDash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Line 40"/>
            <p:cNvSpPr/>
            <p:nvPr/>
          </p:nvSpPr>
          <p:spPr>
            <a:xfrm>
              <a:off x="666750" y="49149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rgbClr val="D4CFC4"/>
              </a:solidFill>
              <a:custDash>
                <a:ds d="800000" sp="600000"/>
              </a:custDash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76250" y="5376868"/>
            <a:ext cx="10477500" cy="1028700"/>
            <a:chOff x="476250" y="5257800"/>
            <a:chExt cx="10477500" cy="1028700"/>
          </a:xfrm>
        </p:grpSpPr>
        <p:sp>
          <p:nvSpPr>
            <p:cNvPr id="42" name="Rectangle 42"/>
            <p:cNvSpPr/>
            <p:nvPr/>
          </p:nvSpPr>
          <p:spPr>
            <a:xfrm>
              <a:off x="476250" y="5257800"/>
              <a:ext cx="47625" cy="1028700"/>
            </a:xfrm>
            <a:prstGeom prst="roundRect">
              <a:avLst>
                <a:gd name="adj" fmla="val 40000"/>
              </a:avLst>
            </a:prstGeom>
            <a:solidFill>
              <a:srgbClr val="00ABC2"/>
            </a:soli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23875" y="5257800"/>
              <a:ext cx="10429875" cy="1028700"/>
            </a:xfrm>
            <a:prstGeom prst="roundRect">
              <a:avLst>
                <a:gd name="adj" fmla="val 5556"/>
              </a:avLst>
            </a:prstGeom>
            <a:solidFill>
              <a:srgbClr val="F5F0E6"/>
            </a:solidFill>
            <a:ln w="9525">
              <a:solidFill>
                <a:srgbClr val="D4CFC4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66750" y="5366147"/>
              <a:ext cx="209550" cy="183356"/>
              <a:chOff x="666750" y="5366147"/>
              <a:chExt cx="209550" cy="18335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23912" y="5366147"/>
                <a:ext cx="52388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83356">
                    <a:moveTo>
                      <a:pt x="52388" y="0"/>
                    </a:moveTo>
                    <a:lnTo>
                      <a:pt x="0" y="0"/>
                    </a:lnTo>
                    <a:lnTo>
                      <a:pt x="0" y="183356"/>
                    </a:lnTo>
                    <a:lnTo>
                      <a:pt x="52388" y="183356"/>
                    </a:lnTo>
                    <a:lnTo>
                      <a:pt x="52388" y="0"/>
                    </a:lnTo>
                    <a:close/>
                  </a:path>
                </a:pathLst>
              </a:custGeom>
              <a:solidFill>
                <a:srgbClr val="00ABC2"/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745331" y="5418534"/>
                <a:ext cx="5238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30969">
                    <a:moveTo>
                      <a:pt x="0" y="0"/>
                    </a:moveTo>
                    <a:lnTo>
                      <a:pt x="52388" y="0"/>
                    </a:lnTo>
                    <a:lnTo>
                      <a:pt x="52388" y="130969"/>
                    </a:lnTo>
                    <a:lnTo>
                      <a:pt x="0" y="1309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BC2"/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66750" y="5470922"/>
                <a:ext cx="52388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78581">
                    <a:moveTo>
                      <a:pt x="0" y="0"/>
                    </a:moveTo>
                    <a:lnTo>
                      <a:pt x="52388" y="0"/>
                    </a:lnTo>
                    <a:lnTo>
                      <a:pt x="52388" y="78581"/>
                    </a:lnTo>
                    <a:lnTo>
                      <a:pt x="0" y="78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BC2"/>
              </a:solidFill>
              <a:ln>
                <a:noFill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918210" y="5385435"/>
              <a:ext cx="1324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ABC2"/>
                  </a:solidFill>
                  <a:latin typeface="Segoe UI"/>
                  <a:ea typeface="SimHei"/>
                  <a:cs typeface="Segoe UI"/>
                </a:rPr>
                <a:t>Impact Evidence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482215" y="5401628"/>
              <a:ext cx="999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5A6E"/>
                  </a:solidFill>
                  <a:latin typeface="Arial"/>
                  <a:ea typeface="Microsoft YaHei"/>
                  <a:cs typeface="Arial"/>
                </a:rPr>
                <a:t>— The 'Result'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320" y="5655945"/>
              <a:ext cx="41513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8A9E"/>
                  </a:solidFill>
                  <a:latin typeface="Arial"/>
                  <a:ea typeface="Microsoft YaHei"/>
                  <a:cs typeface="Arial"/>
                </a:rPr>
                <a:t>Quantitative or qualitative gains: hours saved, error reduction, etc.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66750" y="59817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rgbClr val="D4CFC4"/>
              </a:solidFill>
              <a:custDash>
                <a:ds d="800000" sp="600000"/>
              </a:custDash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Line 52"/>
            <p:cNvSpPr/>
            <p:nvPr/>
          </p:nvSpPr>
          <p:spPr>
            <a:xfrm>
              <a:off x="666750" y="61722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4762">
              <a:solidFill>
                <a:srgbClr val="D4CFC4"/>
              </a:solidFill>
              <a:custDash>
                <a:ds d="800000" sp="600000"/>
              </a:custDash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4" name="Rectangle 54"/>
          <p:cNvSpPr/>
          <p:nvPr/>
        </p:nvSpPr>
        <p:spPr>
          <a:xfrm>
            <a:off x="0" y="6496050"/>
            <a:ext cx="12192000" cy="36195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Ellipse 55"/>
          <p:cNvSpPr/>
          <p:nvPr/>
        </p:nvSpPr>
        <p:spPr>
          <a:xfrm>
            <a:off x="3467100" y="6619875"/>
            <a:ext cx="114300" cy="114300"/>
          </a:xfrm>
          <a:prstGeom prst="ellipse">
            <a:avLst/>
          </a:prstGeom>
          <a:solidFill>
            <a:srgbClr val="00ABC2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Box 56"/>
          <p:cNvSpPr txBox="1"/>
          <p:nvPr/>
        </p:nvSpPr>
        <p:spPr>
          <a:xfrm>
            <a:off x="3645218" y="661939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SimHei"/>
                <a:cs typeface="Segoe UI"/>
              </a:rPr>
              <a:t>Innovation</a:t>
            </a:r>
          </a:p>
        </p:txBody>
      </p:sp>
      <p:sp>
        <p:nvSpPr>
          <p:cNvPr id="57" name="Ellipse 57"/>
          <p:cNvSpPr/>
          <p:nvPr/>
        </p:nvSpPr>
        <p:spPr>
          <a:xfrm>
            <a:off x="4648200" y="6657975"/>
            <a:ext cx="38100" cy="38100"/>
          </a:xfrm>
          <a:prstGeom prst="ellipse">
            <a:avLst/>
          </a:prstGeom>
          <a:solidFill>
            <a:srgbClr val="A69060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Ellipse 58"/>
          <p:cNvSpPr/>
          <p:nvPr/>
        </p:nvSpPr>
        <p:spPr>
          <a:xfrm>
            <a:off x="4800600" y="6619875"/>
            <a:ext cx="114300" cy="114300"/>
          </a:xfrm>
          <a:prstGeom prst="ellipse">
            <a:avLst/>
          </a:prstGeom>
          <a:solidFill>
            <a:srgbClr val="A69060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Box 59"/>
          <p:cNvSpPr txBox="1"/>
          <p:nvPr/>
        </p:nvSpPr>
        <p:spPr>
          <a:xfrm>
            <a:off x="4978718" y="6619399"/>
            <a:ext cx="468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SimHei"/>
                <a:cs typeface="Segoe UI"/>
              </a:rPr>
              <a:t>Impact</a:t>
            </a:r>
          </a:p>
        </p:txBody>
      </p:sp>
      <p:sp>
        <p:nvSpPr>
          <p:cNvPr id="60" name="Ellipse 60"/>
          <p:cNvSpPr/>
          <p:nvPr/>
        </p:nvSpPr>
        <p:spPr>
          <a:xfrm>
            <a:off x="5695950" y="6657975"/>
            <a:ext cx="38100" cy="38100"/>
          </a:xfrm>
          <a:prstGeom prst="ellipse">
            <a:avLst/>
          </a:prstGeom>
          <a:solidFill>
            <a:srgbClr val="A69060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Ellipse 61"/>
          <p:cNvSpPr/>
          <p:nvPr/>
        </p:nvSpPr>
        <p:spPr>
          <a:xfrm>
            <a:off x="5848350" y="6619875"/>
            <a:ext cx="114300" cy="114300"/>
          </a:xfrm>
          <a:prstGeom prst="ellipse">
            <a:avLst/>
          </a:prstGeom>
          <a:solidFill>
            <a:srgbClr val="00ABC2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Box 62"/>
          <p:cNvSpPr txBox="1"/>
          <p:nvPr/>
        </p:nvSpPr>
        <p:spPr>
          <a:xfrm>
            <a:off x="6026468" y="661939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SimHei"/>
                <a:cs typeface="Segoe UI"/>
              </a:rPr>
              <a:t>Adoption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847165" y="663559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A8A9E"/>
                </a:solidFill>
                <a:latin typeface="Arial"/>
                <a:ea typeface="Microsoft YaHei"/>
                <a:cs typeface="Arial"/>
              </a:rPr>
              <a:t>Scoring Criteria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875" y="2671763"/>
            <a:ext cx="990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  <a:r>
              <a:rPr lang="zh-TW" altLang="en-US" dirty="0"/>
              <a:t>核心問題：新人進入倉庫後，難以在短時間內熟悉倉庫地形並準確定位每一個儲位，導致培訓週期長、錯誤率高、現場帶教成本</a:t>
            </a:r>
            <a:r>
              <a:rPr lang="zh-TW" altLang="en-US" dirty="0" smtClean="0"/>
              <a:t>高昂。</a:t>
            </a:r>
            <a:endParaRPr lang="en-US" altLang="zh-TW" dirty="0" smtClean="0"/>
          </a:p>
          <a:p>
            <a:pPr>
              <a:defRPr sz="1000">
                <a:latin typeface="Calibri"/>
              </a:defRPr>
            </a:pPr>
            <a:r>
              <a:rPr lang="zh-TW" altLang="en-US" dirty="0" smtClean="0"/>
              <a:t>具體</a:t>
            </a:r>
            <a:r>
              <a:rPr lang="zh-TW" altLang="en-US" dirty="0"/>
              <a:t>痛點：</a:t>
            </a:r>
            <a:r>
              <a:rPr lang="en-US" altLang="zh-TW" dirty="0"/>
              <a:t>- 2D </a:t>
            </a:r>
            <a:r>
              <a:rPr lang="zh-TW" altLang="en-US" dirty="0"/>
              <a:t>平面圖缺乏立體空間感，無法讓新人建立真實動線記憶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defRPr sz="1000">
                <a:latin typeface="Calibri"/>
              </a:defRPr>
            </a:pPr>
            <a:r>
              <a:rPr lang="en-US" altLang="zh-TW" dirty="0" smtClean="0"/>
              <a:t>- </a:t>
            </a:r>
            <a:r>
              <a:rPr lang="zh-TW" altLang="en-US" dirty="0" smtClean="0"/>
              <a:t>口頭</a:t>
            </a:r>
            <a:r>
              <a:rPr lang="zh-TW" altLang="en-US" dirty="0"/>
              <a:t>與紙本帶教難以準確對應數千個儲位的實際位置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defRPr sz="1000">
                <a:latin typeface="Calibri"/>
              </a:defRPr>
            </a:pPr>
            <a:r>
              <a:rPr lang="en-US" altLang="zh-TW" dirty="0" smtClean="0"/>
              <a:t>- </a:t>
            </a:r>
            <a:r>
              <a:rPr lang="zh-TW" altLang="en-US" dirty="0"/>
              <a:t>現場帶教必須占用資深人員與作業空間，成本高且難以重複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defRPr sz="1000">
                <a:latin typeface="Calibri"/>
              </a:defRPr>
            </a:pPr>
            <a:r>
              <a:rPr lang="en-US" altLang="zh-TW" dirty="0" smtClean="0"/>
              <a:t>- </a:t>
            </a:r>
            <a:r>
              <a:rPr lang="zh-TW" altLang="en-US" dirty="0"/>
              <a:t>新人獨立上線後定位錯誤率高，影響揀貨效率與出貨準確度</a:t>
            </a:r>
            <a:r>
              <a:rPr lang="zh-TW" altLang="en-US" dirty="0" smtClean="0"/>
              <a:t>。</a:t>
            </a:r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523875" y="4275791"/>
            <a:ext cx="990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  <a:r>
              <a:rPr lang="zh-TW" altLang="en-US" dirty="0"/>
              <a:t>解決方案：建立一個以 </a:t>
            </a:r>
            <a:r>
              <a:rPr lang="en-US" altLang="zh-TW" dirty="0"/>
              <a:t>3D </a:t>
            </a:r>
            <a:r>
              <a:rPr lang="zh-TW" altLang="en-US" dirty="0"/>
              <a:t>數位孿生為基礎的培訓平臺，讓新人在進入實際倉庫前，就能以第一人稱視角在虛擬倉庫中自由行走、觀察地形、練習定位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defRPr sz="1000">
                <a:latin typeface="Calibri"/>
              </a:defRPr>
            </a:pPr>
            <a:r>
              <a:rPr lang="zh-TW" altLang="en-US" dirty="0" smtClean="0"/>
              <a:t>關鍵</a:t>
            </a:r>
            <a:r>
              <a:rPr lang="zh-TW" altLang="en-US" dirty="0"/>
              <a:t>技術與功能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171450" indent="-171450">
              <a:buFontTx/>
              <a:buChar char="-"/>
              <a:defRPr sz="1000">
                <a:latin typeface="Calibri"/>
              </a:defRPr>
            </a:pPr>
            <a:r>
              <a:rPr lang="zh-TW" altLang="en-US" dirty="0" smtClean="0"/>
              <a:t>真實</a:t>
            </a:r>
            <a:r>
              <a:rPr lang="zh-TW" altLang="en-US" dirty="0"/>
              <a:t>比例 </a:t>
            </a:r>
            <a:r>
              <a:rPr lang="en-US" altLang="zh-TW" dirty="0"/>
              <a:t>3D </a:t>
            </a:r>
            <a:r>
              <a:rPr lang="zh-TW" altLang="en-US" dirty="0"/>
              <a:t>倉庫模型：完整還原貨架、走道、儲位編號與空間關係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171450" indent="-171450">
              <a:buFontTx/>
              <a:buChar char="-"/>
              <a:defRPr sz="1000">
                <a:latin typeface="Calibri"/>
              </a:defRPr>
            </a:pPr>
            <a:r>
              <a:rPr lang="zh-TW" altLang="en-US" dirty="0" smtClean="0"/>
              <a:t>第一</a:t>
            </a:r>
            <a:r>
              <a:rPr lang="zh-TW" altLang="en-US" dirty="0"/>
              <a:t>人稱視角模擬：提供沉浸式行走體驗，讓新人用身體記住倉庫地形與動線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171450" indent="-171450">
              <a:buFontTx/>
              <a:buChar char="-"/>
              <a:defRPr sz="1000">
                <a:latin typeface="Calibri"/>
              </a:defRPr>
            </a:pPr>
            <a:r>
              <a:rPr lang="zh-TW" altLang="en-US" dirty="0" smtClean="0"/>
              <a:t>自由</a:t>
            </a:r>
            <a:r>
              <a:rPr lang="zh-TW" altLang="en-US" dirty="0"/>
              <a:t>導航與點擊定位：支援任意角度移動，點擊任一儲位即可顯示編號與屬性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171450" indent="-171450">
              <a:buFontTx/>
              <a:buChar char="-"/>
              <a:defRPr sz="1000">
                <a:latin typeface="Calibri"/>
              </a:defRPr>
            </a:pPr>
            <a:r>
              <a:rPr lang="zh-TW" altLang="en-US" dirty="0" smtClean="0"/>
              <a:t>可</a:t>
            </a:r>
            <a:r>
              <a:rPr lang="zh-TW" altLang="en-US" dirty="0"/>
              <a:t>重複安全訓練：所有演練在虛擬環境中進行，可無限次複習，不影響現場作業。</a:t>
            </a:r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500062" y="5871811"/>
            <a:ext cx="990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  <a:defRPr sz="1000">
                <a:latin typeface="Calibri"/>
              </a:defRPr>
            </a:pPr>
            <a:r>
              <a:rPr lang="zh-TW" altLang="en-US" dirty="0" smtClean="0"/>
              <a:t>新人</a:t>
            </a:r>
            <a:r>
              <a:rPr lang="zh-TW" altLang="en-US" dirty="0"/>
              <a:t>對倉庫地形的掌握從「抽象對照」轉為「身歷其境的空間記憶」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171450" indent="-171450">
              <a:buFontTx/>
              <a:buChar char="-"/>
              <a:defRPr sz="1000">
                <a:latin typeface="Calibri"/>
              </a:defRPr>
            </a:pPr>
            <a:r>
              <a:rPr lang="zh-TW" altLang="en-US" dirty="0" smtClean="0"/>
              <a:t>培訓</a:t>
            </a:r>
            <a:r>
              <a:rPr lang="zh-TW" altLang="en-US" dirty="0"/>
              <a:t>從「一次性口頭教學」轉為「可重複、可考核的數位演練」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171450" indent="-171450">
              <a:buFontTx/>
              <a:buChar char="-"/>
              <a:defRPr sz="1000">
                <a:latin typeface="Calibri"/>
              </a:defRPr>
            </a:pPr>
            <a:r>
              <a:rPr lang="zh-TW" altLang="en-US" dirty="0" smtClean="0"/>
              <a:t>降低</a:t>
            </a:r>
            <a:r>
              <a:rPr lang="zh-TW" altLang="en-US" dirty="0"/>
              <a:t>實際倉庫內的安全風險與作業干擾。</a:t>
            </a:r>
            <a:endParaRPr dirty="0"/>
          </a:p>
        </p:txBody>
      </p:sp>
      <p:pic>
        <p:nvPicPr>
          <p:cNvPr id="68" name="圖片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658" y="815345"/>
            <a:ext cx="961989" cy="90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1" grpId="0"/>
      <p:bldP spid="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"/>
            <a:ext cx="12192000" cy="6857238"/>
          </a:xfrm>
          <a:prstGeom prst="rect">
            <a:avLst/>
          </a:prstGeom>
        </p:spPr>
      </p:pic>
      <p:grpSp>
        <p:nvGrpSpPr>
          <p:cNvPr id="89" name="Group 52"/>
          <p:cNvGrpSpPr/>
          <p:nvPr/>
        </p:nvGrpSpPr>
        <p:grpSpPr>
          <a:xfrm>
            <a:off x="12294870" y="0"/>
            <a:ext cx="915621" cy="4331303"/>
            <a:chOff x="12294870" y="0"/>
            <a:chExt cx="915621" cy="4331303"/>
          </a:xfrm>
        </p:grpSpPr>
        <p:grpSp>
          <p:nvGrpSpPr>
            <p:cNvPr id="90" name="Group 12"/>
            <p:cNvGrpSpPr/>
            <p:nvPr/>
          </p:nvGrpSpPr>
          <p:grpSpPr>
            <a:xfrm>
              <a:off x="12294870" y="0"/>
              <a:ext cx="168402" cy="4331303"/>
              <a:chOff x="12294870" y="0"/>
              <a:chExt cx="168402" cy="4331303"/>
            </a:xfrm>
          </p:grpSpPr>
          <p:sp>
            <p:nvSpPr>
              <p:cNvPr id="130" name="Rectangle 3"/>
              <p:cNvSpPr/>
              <p:nvPr/>
            </p:nvSpPr>
            <p:spPr>
              <a:xfrm>
                <a:off x="12294870" y="0"/>
                <a:ext cx="168402" cy="481298"/>
              </a:xfrm>
              <a:prstGeom prst="rect">
                <a:avLst/>
              </a:prstGeom>
              <a:solidFill>
                <a:srgbClr val="FFFFFF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31" name="Rectangle 4"/>
              <p:cNvSpPr/>
              <p:nvPr/>
            </p:nvSpPr>
            <p:spPr>
              <a:xfrm>
                <a:off x="12294870" y="481298"/>
                <a:ext cx="168402" cy="481298"/>
              </a:xfrm>
              <a:prstGeom prst="rect">
                <a:avLst/>
              </a:prstGeom>
              <a:solidFill>
                <a:srgbClr val="000000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32" name="Rectangle 5"/>
              <p:cNvSpPr/>
              <p:nvPr/>
            </p:nvSpPr>
            <p:spPr>
              <a:xfrm>
                <a:off x="12294870" y="962501"/>
                <a:ext cx="168402" cy="481298"/>
              </a:xfrm>
              <a:prstGeom prst="rect">
                <a:avLst/>
              </a:prstGeom>
              <a:solidFill>
                <a:srgbClr val="5F5B5B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33" name="Rectangle 6"/>
              <p:cNvSpPr/>
              <p:nvPr/>
            </p:nvSpPr>
            <p:spPr>
              <a:xfrm>
                <a:off x="12294870" y="1443800"/>
                <a:ext cx="168402" cy="481298"/>
              </a:xfrm>
              <a:prstGeom prst="rect">
                <a:avLst/>
              </a:prstGeom>
              <a:solidFill>
                <a:srgbClr val="303030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34" name="Rectangle 7"/>
              <p:cNvSpPr/>
              <p:nvPr/>
            </p:nvSpPr>
            <p:spPr>
              <a:xfrm>
                <a:off x="12294870" y="1925098"/>
                <a:ext cx="168402" cy="481298"/>
              </a:xfrm>
              <a:prstGeom prst="rect">
                <a:avLst/>
              </a:prstGeom>
              <a:solidFill>
                <a:srgbClr val="E8E8E8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35" name="Rectangle 8"/>
              <p:cNvSpPr/>
              <p:nvPr/>
            </p:nvSpPr>
            <p:spPr>
              <a:xfrm>
                <a:off x="12294870" y="2406301"/>
                <a:ext cx="168402" cy="481298"/>
              </a:xfrm>
              <a:prstGeom prst="rect">
                <a:avLst/>
              </a:prstGeom>
              <a:solidFill>
                <a:srgbClr val="A69060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36" name="Rectangle 9"/>
              <p:cNvSpPr/>
              <p:nvPr/>
            </p:nvSpPr>
            <p:spPr>
              <a:xfrm>
                <a:off x="12294870" y="2887599"/>
                <a:ext cx="168402" cy="481298"/>
              </a:xfrm>
              <a:prstGeom prst="rect">
                <a:avLst/>
              </a:prstGeom>
              <a:solidFill>
                <a:srgbClr val="C1AB7A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37" name="Rectangle 10"/>
              <p:cNvSpPr/>
              <p:nvPr/>
            </p:nvSpPr>
            <p:spPr>
              <a:xfrm>
                <a:off x="12294870" y="3368802"/>
                <a:ext cx="168402" cy="481298"/>
              </a:xfrm>
              <a:prstGeom prst="rect">
                <a:avLst/>
              </a:prstGeom>
              <a:solidFill>
                <a:srgbClr val="00ABC2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38" name="Rectangle 11"/>
              <p:cNvSpPr/>
              <p:nvPr/>
            </p:nvSpPr>
            <p:spPr>
              <a:xfrm>
                <a:off x="12294870" y="3850005"/>
                <a:ext cx="168402" cy="481298"/>
              </a:xfrm>
              <a:prstGeom prst="rect">
                <a:avLst/>
              </a:prstGeom>
              <a:solidFill>
                <a:srgbClr val="1295D8"/>
              </a:solidFill>
              <a:ln w="3172">
                <a:solidFill>
                  <a:srgbClr val="FFFFFF"/>
                </a:solidFill>
              </a:ln>
            </p:spPr>
          </p:sp>
        </p:grpSp>
        <p:grpSp>
          <p:nvGrpSpPr>
            <p:cNvPr id="91" name="Group 51"/>
            <p:cNvGrpSpPr/>
            <p:nvPr/>
          </p:nvGrpSpPr>
          <p:grpSpPr>
            <a:xfrm>
              <a:off x="12463272" y="8572"/>
              <a:ext cx="747219" cy="4263390"/>
              <a:chOff x="12463272" y="8572"/>
              <a:chExt cx="747219" cy="4263390"/>
            </a:xfrm>
          </p:grpSpPr>
          <p:grpSp>
            <p:nvGrpSpPr>
              <p:cNvPr id="92" name="Group 17"/>
              <p:cNvGrpSpPr/>
              <p:nvPr/>
            </p:nvGrpSpPr>
            <p:grpSpPr>
              <a:xfrm>
                <a:off x="12463272" y="8572"/>
                <a:ext cx="747219" cy="461677"/>
                <a:chOff x="12463272" y="8572"/>
                <a:chExt cx="747219" cy="461677"/>
              </a:xfrm>
            </p:grpSpPr>
            <p:sp>
              <p:nvSpPr>
                <p:cNvPr id="126" name="Rectangle 13"/>
                <p:cNvSpPr/>
                <p:nvPr/>
              </p:nvSpPr>
              <p:spPr>
                <a:xfrm>
                  <a:off x="12463272" y="8572"/>
                  <a:ext cx="726472" cy="461677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27" name="TextBox 14"/>
                <p:cNvSpPr txBox="1"/>
                <p:nvPr/>
              </p:nvSpPr>
              <p:spPr>
                <a:xfrm>
                  <a:off x="12544549" y="54202"/>
                  <a:ext cx="308452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White</a:t>
                  </a:r>
                </a:p>
              </p:txBody>
            </p:sp>
            <p:sp>
              <p:nvSpPr>
                <p:cNvPr id="128" name="TextBox 15"/>
                <p:cNvSpPr txBox="1"/>
                <p:nvPr/>
              </p:nvSpPr>
              <p:spPr>
                <a:xfrm>
                  <a:off x="12544549" y="176122"/>
                  <a:ext cx="665942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255/255/255</a:t>
                  </a:r>
                </a:p>
              </p:txBody>
            </p:sp>
            <p:sp>
              <p:nvSpPr>
                <p:cNvPr id="129" name="TextBox 16"/>
                <p:cNvSpPr txBox="1"/>
                <p:nvPr/>
              </p:nvSpPr>
              <p:spPr>
                <a:xfrm>
                  <a:off x="12544549" y="298042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#FFFFFF</a:t>
                  </a:r>
                </a:p>
              </p:txBody>
            </p:sp>
          </p:grpSp>
          <p:grpSp>
            <p:nvGrpSpPr>
              <p:cNvPr id="93" name="Group 22"/>
              <p:cNvGrpSpPr/>
              <p:nvPr/>
            </p:nvGrpSpPr>
            <p:grpSpPr>
              <a:xfrm>
                <a:off x="12463272" y="487775"/>
                <a:ext cx="492442" cy="461677"/>
                <a:chOff x="12463272" y="487775"/>
                <a:chExt cx="492442" cy="461677"/>
              </a:xfrm>
            </p:grpSpPr>
            <p:sp>
              <p:nvSpPr>
                <p:cNvPr id="122" name="Rectangle 18"/>
                <p:cNvSpPr/>
                <p:nvPr/>
              </p:nvSpPr>
              <p:spPr>
                <a:xfrm>
                  <a:off x="12463272" y="487775"/>
                  <a:ext cx="492442" cy="461677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23" name="TextBox 19"/>
                <p:cNvSpPr txBox="1"/>
                <p:nvPr/>
              </p:nvSpPr>
              <p:spPr>
                <a:xfrm>
                  <a:off x="12544549" y="533405"/>
                  <a:ext cx="287110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Black</a:t>
                  </a:r>
                </a:p>
              </p:txBody>
            </p:sp>
            <p:sp>
              <p:nvSpPr>
                <p:cNvPr id="124" name="TextBox 20"/>
                <p:cNvSpPr txBox="1"/>
                <p:nvPr/>
              </p:nvSpPr>
              <p:spPr>
                <a:xfrm>
                  <a:off x="12544549" y="655325"/>
                  <a:ext cx="313788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0/0/0</a:t>
                  </a:r>
                </a:p>
              </p:txBody>
            </p:sp>
            <p:sp>
              <p:nvSpPr>
                <p:cNvPr id="125" name="TextBox 21"/>
                <p:cNvSpPr txBox="1"/>
                <p:nvPr/>
              </p:nvSpPr>
              <p:spPr>
                <a:xfrm>
                  <a:off x="12544549" y="777245"/>
                  <a:ext cx="372480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#00000</a:t>
                  </a:r>
                </a:p>
              </p:txBody>
            </p:sp>
          </p:grpSp>
          <p:grpSp>
            <p:nvGrpSpPr>
              <p:cNvPr id="94" name="Group 26"/>
              <p:cNvGrpSpPr/>
              <p:nvPr/>
            </p:nvGrpSpPr>
            <p:grpSpPr>
              <a:xfrm>
                <a:off x="12463272" y="1041464"/>
                <a:ext cx="572548" cy="338518"/>
                <a:chOff x="12463272" y="1041464"/>
                <a:chExt cx="572548" cy="338518"/>
              </a:xfrm>
            </p:grpSpPr>
            <p:sp>
              <p:nvSpPr>
                <p:cNvPr id="119" name="Rectangle 23"/>
                <p:cNvSpPr/>
                <p:nvPr/>
              </p:nvSpPr>
              <p:spPr>
                <a:xfrm>
                  <a:off x="12463272" y="1041464"/>
                  <a:ext cx="572548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20" name="TextBox 24"/>
                <p:cNvSpPr txBox="1"/>
                <p:nvPr/>
              </p:nvSpPr>
              <p:spPr>
                <a:xfrm>
                  <a:off x="12544549" y="1087188"/>
                  <a:ext cx="436508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95/91/91</a:t>
                  </a:r>
                </a:p>
              </p:txBody>
            </p:sp>
            <p:sp>
              <p:nvSpPr>
                <p:cNvPr id="121" name="TextBox 25"/>
                <p:cNvSpPr txBox="1"/>
                <p:nvPr/>
              </p:nvSpPr>
              <p:spPr>
                <a:xfrm>
                  <a:off x="12544549" y="1209108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#5E5B5B</a:t>
                  </a:r>
                </a:p>
              </p:txBody>
            </p:sp>
          </p:grpSp>
          <p:grpSp>
            <p:nvGrpSpPr>
              <p:cNvPr id="95" name="Group 30"/>
              <p:cNvGrpSpPr/>
              <p:nvPr/>
            </p:nvGrpSpPr>
            <p:grpSpPr>
              <a:xfrm>
                <a:off x="12463272" y="1515142"/>
                <a:ext cx="572548" cy="338518"/>
                <a:chOff x="12463272" y="1515142"/>
                <a:chExt cx="572548" cy="338518"/>
              </a:xfrm>
            </p:grpSpPr>
            <p:sp>
              <p:nvSpPr>
                <p:cNvPr id="116" name="Rectangle 27"/>
                <p:cNvSpPr/>
                <p:nvPr/>
              </p:nvSpPr>
              <p:spPr>
                <a:xfrm>
                  <a:off x="12463272" y="1515142"/>
                  <a:ext cx="572548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17" name="TextBox 28"/>
                <p:cNvSpPr txBox="1"/>
                <p:nvPr/>
              </p:nvSpPr>
              <p:spPr>
                <a:xfrm>
                  <a:off x="12544549" y="1560867"/>
                  <a:ext cx="489865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48/48/48</a:t>
                  </a:r>
                </a:p>
              </p:txBody>
            </p:sp>
            <p:sp>
              <p:nvSpPr>
                <p:cNvPr id="118" name="TextBox 29"/>
                <p:cNvSpPr txBox="1"/>
                <p:nvPr/>
              </p:nvSpPr>
              <p:spPr>
                <a:xfrm>
                  <a:off x="12544549" y="1682787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#303030</a:t>
                  </a:r>
                </a:p>
              </p:txBody>
            </p:sp>
          </p:grpSp>
          <p:grpSp>
            <p:nvGrpSpPr>
              <p:cNvPr id="96" name="Group 34"/>
              <p:cNvGrpSpPr/>
              <p:nvPr/>
            </p:nvGrpSpPr>
            <p:grpSpPr>
              <a:xfrm>
                <a:off x="12463272" y="1997392"/>
                <a:ext cx="747219" cy="338518"/>
                <a:chOff x="12463272" y="1997392"/>
                <a:chExt cx="747219" cy="338518"/>
              </a:xfrm>
            </p:grpSpPr>
            <p:sp>
              <p:nvSpPr>
                <p:cNvPr id="113" name="Rectangle 31"/>
                <p:cNvSpPr/>
                <p:nvPr/>
              </p:nvSpPr>
              <p:spPr>
                <a:xfrm>
                  <a:off x="12463272" y="1997392"/>
                  <a:ext cx="726472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14" name="TextBox 32"/>
                <p:cNvSpPr txBox="1"/>
                <p:nvPr/>
              </p:nvSpPr>
              <p:spPr>
                <a:xfrm>
                  <a:off x="12544549" y="2043022"/>
                  <a:ext cx="665942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232/232/232</a:t>
                  </a:r>
                </a:p>
              </p:txBody>
            </p:sp>
            <p:sp>
              <p:nvSpPr>
                <p:cNvPr id="115" name="TextBox 33"/>
                <p:cNvSpPr txBox="1"/>
                <p:nvPr/>
              </p:nvSpPr>
              <p:spPr>
                <a:xfrm>
                  <a:off x="12544549" y="2164942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#E8E8E8</a:t>
                  </a:r>
                </a:p>
              </p:txBody>
            </p:sp>
          </p:grpSp>
          <p:grpSp>
            <p:nvGrpSpPr>
              <p:cNvPr id="97" name="Group 38"/>
              <p:cNvGrpSpPr/>
              <p:nvPr/>
            </p:nvGrpSpPr>
            <p:grpSpPr>
              <a:xfrm>
                <a:off x="12463272" y="2476881"/>
                <a:ext cx="675227" cy="338518"/>
                <a:chOff x="12463272" y="2476881"/>
                <a:chExt cx="675227" cy="338518"/>
              </a:xfrm>
            </p:grpSpPr>
            <p:sp>
              <p:nvSpPr>
                <p:cNvPr id="110" name="Rectangle 35"/>
                <p:cNvSpPr/>
                <p:nvPr/>
              </p:nvSpPr>
              <p:spPr>
                <a:xfrm>
                  <a:off x="12463272" y="2476881"/>
                  <a:ext cx="675227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11" name="TextBox 36"/>
                <p:cNvSpPr txBox="1"/>
                <p:nvPr/>
              </p:nvSpPr>
              <p:spPr>
                <a:xfrm>
                  <a:off x="12544549" y="2522606"/>
                  <a:ext cx="55389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166/144/96</a:t>
                  </a:r>
                </a:p>
              </p:txBody>
            </p:sp>
            <p:sp>
              <p:nvSpPr>
                <p:cNvPr id="112" name="TextBox 37"/>
                <p:cNvSpPr txBox="1"/>
                <p:nvPr/>
              </p:nvSpPr>
              <p:spPr>
                <a:xfrm>
                  <a:off x="12544549" y="2644526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#A69060</a:t>
                  </a:r>
                </a:p>
              </p:txBody>
            </p:sp>
          </p:grpSp>
          <p:grpSp>
            <p:nvGrpSpPr>
              <p:cNvPr id="98" name="Group 42"/>
              <p:cNvGrpSpPr/>
              <p:nvPr/>
            </p:nvGrpSpPr>
            <p:grpSpPr>
              <a:xfrm>
                <a:off x="12463272" y="2974658"/>
                <a:ext cx="726472" cy="338518"/>
                <a:chOff x="12463272" y="2974658"/>
                <a:chExt cx="726472" cy="338518"/>
              </a:xfrm>
            </p:grpSpPr>
            <p:sp>
              <p:nvSpPr>
                <p:cNvPr id="107" name="Rectangle 39"/>
                <p:cNvSpPr/>
                <p:nvPr/>
              </p:nvSpPr>
              <p:spPr>
                <a:xfrm>
                  <a:off x="12463272" y="2974658"/>
                  <a:ext cx="726472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08" name="TextBox 40"/>
                <p:cNvSpPr txBox="1"/>
                <p:nvPr/>
              </p:nvSpPr>
              <p:spPr>
                <a:xfrm>
                  <a:off x="12544549" y="3020287"/>
                  <a:ext cx="559229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193/171/122</a:t>
                  </a:r>
                </a:p>
              </p:txBody>
            </p:sp>
            <p:sp>
              <p:nvSpPr>
                <p:cNvPr id="109" name="TextBox 41"/>
                <p:cNvSpPr txBox="1"/>
                <p:nvPr/>
              </p:nvSpPr>
              <p:spPr>
                <a:xfrm>
                  <a:off x="12544549" y="3142207"/>
                  <a:ext cx="404494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#C1AB7A</a:t>
                  </a:r>
                </a:p>
              </p:txBody>
            </p:sp>
          </p:grpSp>
          <p:grpSp>
            <p:nvGrpSpPr>
              <p:cNvPr id="99" name="Group 46"/>
              <p:cNvGrpSpPr/>
              <p:nvPr/>
            </p:nvGrpSpPr>
            <p:grpSpPr>
              <a:xfrm>
                <a:off x="12463272" y="3440144"/>
                <a:ext cx="623888" cy="338518"/>
                <a:chOff x="12463272" y="3440144"/>
                <a:chExt cx="623888" cy="338518"/>
              </a:xfrm>
            </p:grpSpPr>
            <p:sp>
              <p:nvSpPr>
                <p:cNvPr id="104" name="Rectangle 43"/>
                <p:cNvSpPr/>
                <p:nvPr/>
              </p:nvSpPr>
              <p:spPr>
                <a:xfrm>
                  <a:off x="12463272" y="3440144"/>
                  <a:ext cx="623888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05" name="TextBox 44"/>
                <p:cNvSpPr txBox="1"/>
                <p:nvPr/>
              </p:nvSpPr>
              <p:spPr>
                <a:xfrm>
                  <a:off x="12544549" y="3485774"/>
                  <a:ext cx="468522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0/171/194</a:t>
                  </a:r>
                </a:p>
              </p:txBody>
            </p:sp>
            <p:sp>
              <p:nvSpPr>
                <p:cNvPr id="106" name="TextBox 45"/>
                <p:cNvSpPr txBox="1"/>
                <p:nvPr/>
              </p:nvSpPr>
              <p:spPr>
                <a:xfrm>
                  <a:off x="12544549" y="3607694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#00ABC2</a:t>
                  </a:r>
                </a:p>
              </p:txBody>
            </p:sp>
          </p:grpSp>
          <p:grpSp>
            <p:nvGrpSpPr>
              <p:cNvPr id="100" name="Group 50"/>
              <p:cNvGrpSpPr/>
              <p:nvPr/>
            </p:nvGrpSpPr>
            <p:grpSpPr>
              <a:xfrm>
                <a:off x="12463272" y="3933444"/>
                <a:ext cx="675227" cy="338518"/>
                <a:chOff x="12463272" y="3933444"/>
                <a:chExt cx="675227" cy="338518"/>
              </a:xfrm>
            </p:grpSpPr>
            <p:sp>
              <p:nvSpPr>
                <p:cNvPr id="101" name="Rectangle 47"/>
                <p:cNvSpPr/>
                <p:nvPr/>
              </p:nvSpPr>
              <p:spPr>
                <a:xfrm>
                  <a:off x="12463272" y="3933444"/>
                  <a:ext cx="675227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02" name="TextBox 48"/>
                <p:cNvSpPr txBox="1"/>
                <p:nvPr/>
              </p:nvSpPr>
              <p:spPr>
                <a:xfrm>
                  <a:off x="12544549" y="3979169"/>
                  <a:ext cx="527215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18/149/216</a:t>
                  </a:r>
                </a:p>
              </p:txBody>
            </p:sp>
            <p:sp>
              <p:nvSpPr>
                <p:cNvPr id="103" name="TextBox 49"/>
                <p:cNvSpPr txBox="1"/>
                <p:nvPr/>
              </p:nvSpPr>
              <p:spPr>
                <a:xfrm>
                  <a:off x="12544549" y="4101089"/>
                  <a:ext cx="404494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#1295D8</a:t>
                  </a:r>
                </a:p>
              </p:txBody>
            </p:sp>
          </p:grpSp>
        </p:grpSp>
      </p:grpSp>
      <p:grpSp>
        <p:nvGrpSpPr>
          <p:cNvPr id="139" name="Group 57"/>
          <p:cNvGrpSpPr/>
          <p:nvPr/>
        </p:nvGrpSpPr>
        <p:grpSpPr>
          <a:xfrm>
            <a:off x="1438275" y="6486525"/>
            <a:ext cx="9315450" cy="200049"/>
            <a:chOff x="1438275" y="6486525"/>
            <a:chExt cx="9315450" cy="200049"/>
          </a:xfrm>
        </p:grpSpPr>
        <p:sp>
          <p:nvSpPr>
            <p:cNvPr id="140" name="Rectangle 55"/>
            <p:cNvSpPr/>
            <p:nvPr/>
          </p:nvSpPr>
          <p:spPr>
            <a:xfrm>
              <a:off x="1438275" y="6486525"/>
              <a:ext cx="9315450" cy="161925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41" name="TextBox 56"/>
            <p:cNvSpPr txBox="1"/>
            <p:nvPr/>
          </p:nvSpPr>
          <p:spPr>
            <a:xfrm>
              <a:off x="1523362" y="6523963"/>
              <a:ext cx="4657021" cy="1626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PEGATRON Corporation © All Rights Reserved. No Further Distribution without Permission.</a:t>
              </a:r>
            </a:p>
          </p:txBody>
        </p:sp>
      </p:grpSp>
      <p:grpSp>
        <p:nvGrpSpPr>
          <p:cNvPr id="142" name="Group 61"/>
          <p:cNvGrpSpPr/>
          <p:nvPr/>
        </p:nvGrpSpPr>
        <p:grpSpPr>
          <a:xfrm>
            <a:off x="767715" y="1358265"/>
            <a:ext cx="5628513" cy="984885"/>
            <a:chOff x="767715" y="1358265"/>
            <a:chExt cx="5628513" cy="984885"/>
          </a:xfrm>
        </p:grpSpPr>
        <p:sp>
          <p:nvSpPr>
            <p:cNvPr id="143" name="TextBox 58"/>
            <p:cNvSpPr txBox="1"/>
            <p:nvPr/>
          </p:nvSpPr>
          <p:spPr>
            <a:xfrm>
              <a:off x="767715" y="1358265"/>
              <a:ext cx="562851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智慧倉儲數位孿生培訓平臺</a:t>
              </a:r>
            </a:p>
          </p:txBody>
        </p:sp>
        <p:sp>
          <p:nvSpPr>
            <p:cNvPr id="144" name="TextBox 59"/>
            <p:cNvSpPr txBox="1"/>
            <p:nvPr/>
          </p:nvSpPr>
          <p:spPr>
            <a:xfrm>
              <a:off x="805815" y="1948815"/>
              <a:ext cx="55904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Smart Warehouse Digital Twin Training Platform</a:t>
              </a:r>
            </a:p>
          </p:txBody>
        </p:sp>
        <p:sp>
          <p:nvSpPr>
            <p:cNvPr id="145" name="Rectangle 60"/>
            <p:cNvSpPr/>
            <p:nvPr/>
          </p:nvSpPr>
          <p:spPr>
            <a:xfrm>
              <a:off x="847725" y="2305050"/>
              <a:ext cx="762000" cy="38100"/>
            </a:xfrm>
            <a:prstGeom prst="rect">
              <a:avLst/>
            </a:prstGeom>
            <a:solidFill>
              <a:srgbClr val="A69060"/>
            </a:solidFill>
            <a:ln>
              <a:noFill/>
            </a:ln>
          </p:spPr>
        </p:sp>
      </p:grpSp>
      <p:grpSp>
        <p:nvGrpSpPr>
          <p:cNvPr id="146" name="Group 67"/>
          <p:cNvGrpSpPr/>
          <p:nvPr/>
        </p:nvGrpSpPr>
        <p:grpSpPr>
          <a:xfrm>
            <a:off x="762000" y="2571750"/>
            <a:ext cx="3581400" cy="1295400"/>
            <a:chOff x="762000" y="2571750"/>
            <a:chExt cx="3581400" cy="1295400"/>
          </a:xfrm>
        </p:grpSpPr>
        <p:sp>
          <p:nvSpPr>
            <p:cNvPr id="147" name="Rectangle 62"/>
            <p:cNvSpPr/>
            <p:nvPr/>
          </p:nvSpPr>
          <p:spPr>
            <a:xfrm>
              <a:off x="762000" y="2571750"/>
              <a:ext cx="3581400" cy="1295400"/>
            </a:xfrm>
            <a:prstGeom prst="roundRect">
              <a:avLst>
                <a:gd name="adj" fmla="val 5882"/>
              </a:avLst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48" name="Rectangle 63"/>
            <p:cNvSpPr/>
            <p:nvPr/>
          </p:nvSpPr>
          <p:spPr>
            <a:xfrm>
              <a:off x="762000" y="2571750"/>
              <a:ext cx="57150" cy="1295400"/>
            </a:xfrm>
            <a:prstGeom prst="roundRect">
              <a:avLst>
                <a:gd name="adj" fmla="val 50000"/>
              </a:avLst>
            </a:prstGeom>
            <a:solidFill>
              <a:srgbClr val="A69060"/>
            </a:solidFill>
            <a:ln>
              <a:noFill/>
            </a:ln>
          </p:spPr>
        </p:sp>
        <p:sp>
          <p:nvSpPr>
            <p:cNvPr id="149" name="TextBox 64"/>
            <p:cNvSpPr txBox="1"/>
            <p:nvPr/>
          </p:nvSpPr>
          <p:spPr>
            <a:xfrm>
              <a:off x="975360" y="2747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培訓效率</a:t>
              </a:r>
            </a:p>
          </p:txBody>
        </p:sp>
        <p:sp>
          <p:nvSpPr>
            <p:cNvPr id="150" name="TextBox 65"/>
            <p:cNvSpPr txBox="1"/>
            <p:nvPr/>
          </p:nvSpPr>
          <p:spPr>
            <a:xfrm>
              <a:off x="950595" y="2993708"/>
              <a:ext cx="10503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A69060"/>
                  </a:solidFill>
                  <a:latin typeface="Calibri"/>
                  <a:ea typeface="Microsoft YaHei"/>
                  <a:cs typeface="Calibri"/>
                </a:rPr>
                <a:t>-50%</a:t>
              </a:r>
            </a:p>
          </p:txBody>
        </p:sp>
        <p:sp>
          <p:nvSpPr>
            <p:cNvPr id="151" name="TextBox 66"/>
            <p:cNvSpPr txBox="1"/>
            <p:nvPr/>
          </p:nvSpPr>
          <p:spPr>
            <a:xfrm>
              <a:off x="976312" y="35171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新人上線時間</a:t>
              </a:r>
            </a:p>
          </p:txBody>
        </p:sp>
      </p:grpSp>
      <p:grpSp>
        <p:nvGrpSpPr>
          <p:cNvPr id="152" name="Group 73"/>
          <p:cNvGrpSpPr/>
          <p:nvPr/>
        </p:nvGrpSpPr>
        <p:grpSpPr>
          <a:xfrm>
            <a:off x="4572000" y="2571750"/>
            <a:ext cx="3581400" cy="1295400"/>
            <a:chOff x="4572000" y="2571750"/>
            <a:chExt cx="3581400" cy="1295400"/>
          </a:xfrm>
        </p:grpSpPr>
        <p:sp>
          <p:nvSpPr>
            <p:cNvPr id="153" name="Rectangle 68"/>
            <p:cNvSpPr/>
            <p:nvPr/>
          </p:nvSpPr>
          <p:spPr>
            <a:xfrm>
              <a:off x="4572000" y="2571750"/>
              <a:ext cx="3581400" cy="1295400"/>
            </a:xfrm>
            <a:prstGeom prst="roundRect">
              <a:avLst>
                <a:gd name="adj" fmla="val 5882"/>
              </a:avLst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54" name="Rectangle 69"/>
            <p:cNvSpPr/>
            <p:nvPr/>
          </p:nvSpPr>
          <p:spPr>
            <a:xfrm>
              <a:off x="4572000" y="2571750"/>
              <a:ext cx="57150" cy="1295400"/>
            </a:xfrm>
            <a:prstGeom prst="roundRect">
              <a:avLst>
                <a:gd name="adj" fmla="val 50000"/>
              </a:avLst>
            </a:prstGeom>
            <a:solidFill>
              <a:srgbClr val="00ABC2"/>
            </a:solidFill>
            <a:ln>
              <a:noFill/>
            </a:ln>
          </p:spPr>
        </p:sp>
        <p:sp>
          <p:nvSpPr>
            <p:cNvPr id="155" name="TextBox 70"/>
            <p:cNvSpPr txBox="1"/>
            <p:nvPr/>
          </p:nvSpPr>
          <p:spPr>
            <a:xfrm>
              <a:off x="4785360" y="2747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安全模擬</a:t>
              </a:r>
            </a:p>
          </p:txBody>
        </p:sp>
        <p:sp>
          <p:nvSpPr>
            <p:cNvPr id="156" name="TextBox 71"/>
            <p:cNvSpPr txBox="1"/>
            <p:nvPr/>
          </p:nvSpPr>
          <p:spPr>
            <a:xfrm>
              <a:off x="4760595" y="2993708"/>
              <a:ext cx="32259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0ABC2"/>
                  </a:solidFill>
                  <a:latin typeface="Calibri"/>
                  <a:ea typeface="Microsoft YaHei"/>
                  <a:cs typeface="Calibri"/>
                </a:rPr>
                <a:t>0</a:t>
              </a:r>
            </a:p>
          </p:txBody>
        </p:sp>
        <p:sp>
          <p:nvSpPr>
            <p:cNvPr id="157" name="TextBox 72"/>
            <p:cNvSpPr txBox="1"/>
            <p:nvPr/>
          </p:nvSpPr>
          <p:spPr>
            <a:xfrm>
              <a:off x="4786312" y="35171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虛擬環境預演，零實際事故</a:t>
              </a:r>
            </a:p>
          </p:txBody>
        </p:sp>
      </p:grpSp>
      <p:grpSp>
        <p:nvGrpSpPr>
          <p:cNvPr id="158" name="Group 79"/>
          <p:cNvGrpSpPr/>
          <p:nvPr/>
        </p:nvGrpSpPr>
        <p:grpSpPr>
          <a:xfrm>
            <a:off x="8382000" y="2571750"/>
            <a:ext cx="3048000" cy="1295400"/>
            <a:chOff x="8382000" y="2571750"/>
            <a:chExt cx="3048000" cy="1295400"/>
          </a:xfrm>
        </p:grpSpPr>
        <p:sp>
          <p:nvSpPr>
            <p:cNvPr id="159" name="Rectangle 74"/>
            <p:cNvSpPr/>
            <p:nvPr/>
          </p:nvSpPr>
          <p:spPr>
            <a:xfrm>
              <a:off x="8382000" y="2571750"/>
              <a:ext cx="3048000" cy="1295400"/>
            </a:xfrm>
            <a:prstGeom prst="roundRect">
              <a:avLst>
                <a:gd name="adj" fmla="val 5882"/>
              </a:avLst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60" name="Rectangle 75"/>
            <p:cNvSpPr/>
            <p:nvPr/>
          </p:nvSpPr>
          <p:spPr>
            <a:xfrm>
              <a:off x="8382000" y="2571750"/>
              <a:ext cx="57150" cy="1295400"/>
            </a:xfrm>
            <a:prstGeom prst="roundRect">
              <a:avLst>
                <a:gd name="adj" fmla="val 50000"/>
              </a:avLst>
            </a:prstGeom>
            <a:solidFill>
              <a:srgbClr val="1295D8"/>
            </a:solidFill>
            <a:ln>
              <a:noFill/>
            </a:ln>
          </p:spPr>
        </p:sp>
        <p:sp>
          <p:nvSpPr>
            <p:cNvPr id="161" name="TextBox 76"/>
            <p:cNvSpPr txBox="1"/>
            <p:nvPr/>
          </p:nvSpPr>
          <p:spPr>
            <a:xfrm>
              <a:off x="8595360" y="27470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可擴展培訓</a:t>
              </a:r>
            </a:p>
          </p:txBody>
        </p:sp>
        <p:sp>
          <p:nvSpPr>
            <p:cNvPr id="162" name="TextBox 77"/>
            <p:cNvSpPr txBox="1"/>
            <p:nvPr/>
          </p:nvSpPr>
          <p:spPr>
            <a:xfrm>
              <a:off x="8570595" y="2993708"/>
              <a:ext cx="69748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295D8"/>
                  </a:solidFill>
                  <a:latin typeface="Calibri"/>
                  <a:ea typeface="Microsoft YaHei"/>
                  <a:cs typeface="Calibri"/>
                </a:rPr>
                <a:t>10+</a:t>
              </a:r>
            </a:p>
          </p:txBody>
        </p:sp>
        <p:sp>
          <p:nvSpPr>
            <p:cNvPr id="163" name="TextBox 78"/>
            <p:cNvSpPr txBox="1"/>
            <p:nvPr/>
          </p:nvSpPr>
          <p:spPr>
            <a:xfrm>
              <a:off x="8596312" y="35171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同時培訓人數</a:t>
              </a:r>
            </a:p>
          </p:txBody>
        </p:sp>
      </p:grpSp>
      <p:grpSp>
        <p:nvGrpSpPr>
          <p:cNvPr id="164" name="Group 82"/>
          <p:cNvGrpSpPr/>
          <p:nvPr/>
        </p:nvGrpSpPr>
        <p:grpSpPr>
          <a:xfrm>
            <a:off x="813435" y="4356735"/>
            <a:ext cx="430759" cy="413266"/>
            <a:chOff x="813435" y="4356735"/>
            <a:chExt cx="430759" cy="413266"/>
          </a:xfrm>
        </p:grpSpPr>
        <p:sp>
          <p:nvSpPr>
            <p:cNvPr id="165" name="TextBox 80"/>
            <p:cNvSpPr txBox="1"/>
            <p:nvPr/>
          </p:nvSpPr>
          <p:spPr>
            <a:xfrm>
              <a:off x="813435" y="4356735"/>
              <a:ext cx="3695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 smtClean="0">
                  <a:solidFill>
                    <a:srgbClr val="000000"/>
                  </a:solidFill>
                  <a:latin typeface="Calibri"/>
                  <a:ea typeface="Microsoft YaHei"/>
                  <a:cs typeface="Calibri"/>
                </a:rPr>
                <a:t>AOTU</a:t>
              </a:r>
              <a:endParaRPr lang="zh-CN" sz="1200" b="1" dirty="0">
                <a:solidFill>
                  <a:srgbClr val="000000"/>
                </a:solidFill>
                <a:latin typeface="Calibri"/>
                <a:ea typeface="Microsoft YaHei"/>
                <a:cs typeface="Calibri"/>
              </a:endParaRPr>
            </a:p>
          </p:txBody>
        </p:sp>
        <p:sp>
          <p:nvSpPr>
            <p:cNvPr id="166" name="TextBox 81"/>
            <p:cNvSpPr txBox="1"/>
            <p:nvPr/>
          </p:nvSpPr>
          <p:spPr>
            <a:xfrm>
              <a:off x="813435" y="4585335"/>
              <a:ext cx="4307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TW" sz="1200" dirty="0">
                  <a:solidFill>
                    <a:srgbClr val="5F5B5B"/>
                  </a:solidFill>
                  <a:ea typeface="Microsoft YaHei"/>
                  <a:cs typeface="Calibri"/>
                </a:rPr>
                <a:t>Ziy Yan</a:t>
              </a:r>
            </a:p>
          </p:txBody>
        </p:sp>
      </p:grpSp>
      <p:grpSp>
        <p:nvGrpSpPr>
          <p:cNvPr id="167" name="Group 85"/>
          <p:cNvGrpSpPr/>
          <p:nvPr/>
        </p:nvGrpSpPr>
        <p:grpSpPr>
          <a:xfrm>
            <a:off x="10824210" y="4356735"/>
            <a:ext cx="1014603" cy="472440"/>
            <a:chOff x="10824210" y="4356735"/>
            <a:chExt cx="1014603" cy="472440"/>
          </a:xfrm>
        </p:grpSpPr>
        <p:sp>
          <p:nvSpPr>
            <p:cNvPr id="168" name="TextBox 83"/>
            <p:cNvSpPr txBox="1"/>
            <p:nvPr/>
          </p:nvSpPr>
          <p:spPr>
            <a:xfrm>
              <a:off x="10824210" y="4356735"/>
              <a:ext cx="4001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Calibri"/>
                  <a:ea typeface="Microsoft YaHei"/>
                  <a:cs typeface="Calibri"/>
                </a:rPr>
                <a:t>DATE</a:t>
              </a:r>
            </a:p>
          </p:txBody>
        </p:sp>
        <p:sp>
          <p:nvSpPr>
            <p:cNvPr id="169" name="TextBox 84"/>
            <p:cNvSpPr txBox="1"/>
            <p:nvPr/>
          </p:nvSpPr>
          <p:spPr>
            <a:xfrm>
              <a:off x="10824210" y="4585335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09 / 14, 2026</a:t>
              </a:r>
            </a:p>
          </p:txBody>
        </p:sp>
      </p:grpSp>
      <p:sp>
        <p:nvSpPr>
          <p:cNvPr id="170" name="矩形 169"/>
          <p:cNvSpPr/>
          <p:nvPr/>
        </p:nvSpPr>
        <p:spPr>
          <a:xfrm>
            <a:off x="569928" y="530352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hlinkClick r:id="rId4"/>
              </a:rPr>
              <a:t>儲位看板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42" grpId="0"/>
      <p:bldP spid="146" grpId="0"/>
      <p:bldP spid="152" grpId="0"/>
      <p:bldP spid="158" grpId="0"/>
      <p:bldP spid="164" grpId="0"/>
      <p:bldP spid="1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38150"/>
            <a:ext cx="11049000" cy="766762"/>
            <a:chOff x="571500" y="438150"/>
            <a:chExt cx="11049000" cy="766762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32460" y="47053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新人認識倉庫地形的痛點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5795" y="869632"/>
              <a:ext cx="47725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Pain Points of Warehouse Layout Onboarding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162050"/>
              <a:ext cx="762000" cy="38100"/>
            </a:xfrm>
            <a:prstGeom prst="rect">
              <a:avLst/>
            </a:prstGeom>
            <a:solidFill>
              <a:srgbClr val="A69060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81025" y="1524000"/>
            <a:ext cx="3524250" cy="2000250"/>
            <a:chOff x="581025" y="1524000"/>
            <a:chExt cx="3524250" cy="2000250"/>
          </a:xfrm>
        </p:grpSpPr>
        <p:sp>
          <p:nvSpPr>
            <p:cNvPr id="8" name="Rectangle 8"/>
            <p:cNvSpPr/>
            <p:nvPr/>
          </p:nvSpPr>
          <p:spPr>
            <a:xfrm>
              <a:off x="581025" y="1524000"/>
              <a:ext cx="3524250" cy="20002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81025" y="1524000"/>
              <a:ext cx="76200" cy="2000250"/>
            </a:xfrm>
            <a:prstGeom prst="roundRect">
              <a:avLst>
                <a:gd name="adj" fmla="val 50000"/>
              </a:avLst>
            </a:prstGeom>
            <a:solidFill>
              <a:srgbClr val="A69060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33450" y="1892300"/>
              <a:ext cx="285750" cy="254000"/>
              <a:chOff x="933450" y="1892300"/>
              <a:chExt cx="285750" cy="254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33450" y="1892300"/>
                <a:ext cx="2857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54000">
                    <a:moveTo>
                      <a:pt x="0" y="47625"/>
                    </a:moveTo>
                    <a:lnTo>
                      <a:pt x="95250" y="0"/>
                    </a:lnTo>
                    <a:lnTo>
                      <a:pt x="190500" y="47625"/>
                    </a:lnTo>
                    <a:lnTo>
                      <a:pt x="285750" y="0"/>
                    </a:lnTo>
                    <a:lnTo>
                      <a:pt x="285750" y="206375"/>
                    </a:lnTo>
                    <a:lnTo>
                      <a:pt x="190500" y="254000"/>
                    </a:lnTo>
                    <a:lnTo>
                      <a:pt x="95250" y="206375"/>
                    </a:lnTo>
                    <a:lnTo>
                      <a:pt x="0" y="254000"/>
                    </a:lnTo>
                    <a:lnTo>
                      <a:pt x="0" y="47625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28700" y="18923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23950" y="1939925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68680" y="2330768"/>
              <a:ext cx="15653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69060"/>
                  </a:solidFill>
                  <a:latin typeface="Calibri"/>
                  <a:ea typeface="Microsoft YaHei"/>
                  <a:cs typeface="Calibri"/>
                </a:rPr>
                <a:t>Spatial Cognition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870" y="25841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空間認知困難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585" y="29375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倉庫空間大、儲位多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585" y="31470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難以建立整體空間感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33875" y="1524000"/>
            <a:ext cx="3524250" cy="2000250"/>
            <a:chOff x="4333875" y="1524000"/>
            <a:chExt cx="3524250" cy="2000250"/>
          </a:xfrm>
        </p:grpSpPr>
        <p:sp>
          <p:nvSpPr>
            <p:cNvPr id="19" name="Rectangle 19"/>
            <p:cNvSpPr/>
            <p:nvPr/>
          </p:nvSpPr>
          <p:spPr>
            <a:xfrm>
              <a:off x="4333875" y="1524000"/>
              <a:ext cx="3524250" cy="20002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1524000"/>
              <a:ext cx="76200" cy="2000250"/>
            </a:xfrm>
            <a:prstGeom prst="roundRect">
              <a:avLst>
                <a:gd name="adj" fmla="val 50000"/>
              </a:avLst>
            </a:prstGeom>
            <a:solidFill>
              <a:srgbClr val="00ABC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702175" y="1892300"/>
              <a:ext cx="254000" cy="254000"/>
              <a:chOff x="4702175" y="1892300"/>
              <a:chExt cx="254000" cy="254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702175" y="189230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02175" y="208280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60925" y="201930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860925" y="189230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621530" y="2330768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BC2"/>
                  </a:solidFill>
                  <a:latin typeface="Calibri"/>
                  <a:ea typeface="Microsoft YaHei"/>
                  <a:cs typeface="Calibri"/>
                </a:rPr>
                <a:t>2D Limitation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17720" y="2584132"/>
              <a:ext cx="12894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2D 平面限制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23435" y="29375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平面圖缺乏立體感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23435" y="31470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難以體驗真實動線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86725" y="1524000"/>
            <a:ext cx="3524250" cy="2000250"/>
            <a:chOff x="8086725" y="1524000"/>
            <a:chExt cx="3524250" cy="2000250"/>
          </a:xfrm>
        </p:grpSpPr>
        <p:sp>
          <p:nvSpPr>
            <p:cNvPr id="31" name="Rectangle 31"/>
            <p:cNvSpPr/>
            <p:nvPr/>
          </p:nvSpPr>
          <p:spPr>
            <a:xfrm>
              <a:off x="8086725" y="1524000"/>
              <a:ext cx="3524250" cy="20002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86725" y="1524000"/>
              <a:ext cx="76200" cy="2000250"/>
            </a:xfrm>
            <a:prstGeom prst="roundRect">
              <a:avLst>
                <a:gd name="adj" fmla="val 50000"/>
              </a:avLst>
            </a:prstGeom>
            <a:solidFill>
              <a:srgbClr val="1295D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422894" y="1879997"/>
              <a:ext cx="304503" cy="307578"/>
              <a:chOff x="8422894" y="1879997"/>
              <a:chExt cx="304503" cy="30757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422894" y="1879997"/>
                <a:ext cx="301800" cy="270367"/>
              </a:xfrm>
              <a:custGeom>
                <a:avLst/>
                <a:gdLst/>
                <a:ahLst/>
                <a:cxnLst/>
                <a:rect l="l" t="t" r="r" b="b"/>
                <a:pathLst>
                  <a:path w="301800" h="270367">
                    <a:moveTo>
                      <a:pt x="207074" y="258683"/>
                    </a:moveTo>
                    <a:cubicBezTo>
                      <a:pt x="169910" y="270367"/>
                      <a:pt x="127699" y="268303"/>
                      <a:pt x="90869" y="250428"/>
                    </a:cubicBezTo>
                    <a:lnTo>
                      <a:pt x="16256" y="266303"/>
                    </a:lnTo>
                    <a:lnTo>
                      <a:pt x="36894" y="204391"/>
                    </a:lnTo>
                    <a:cubicBezTo>
                      <a:pt x="0" y="149828"/>
                      <a:pt x="14256" y="79423"/>
                      <a:pt x="70231" y="39703"/>
                    </a:cubicBezTo>
                    <a:cubicBezTo>
                      <a:pt x="126206" y="0"/>
                      <a:pt x="206597" y="3254"/>
                      <a:pt x="258270" y="47323"/>
                    </a:cubicBezTo>
                    <a:cubicBezTo>
                      <a:pt x="284448" y="69660"/>
                      <a:pt x="299149" y="98965"/>
                      <a:pt x="301800" y="129111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93150" y="217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669338" y="2063724"/>
                <a:ext cx="58059" cy="66701"/>
              </a:xfrm>
              <a:custGeom>
                <a:avLst/>
                <a:gdLst/>
                <a:ahLst/>
                <a:cxnLst/>
                <a:rect l="l" t="t" r="r" b="b"/>
                <a:pathLst>
                  <a:path w="58059" h="66701">
                    <a:moveTo>
                      <a:pt x="23812" y="66701"/>
                    </a:moveTo>
                    <a:cubicBezTo>
                      <a:pt x="38459" y="66654"/>
                      <a:pt x="51178" y="56609"/>
                      <a:pt x="54619" y="42373"/>
                    </a:cubicBezTo>
                    <a:cubicBezTo>
                      <a:pt x="58059" y="28136"/>
                      <a:pt x="51331" y="13391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374380" y="233076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295D8"/>
                  </a:solidFill>
                  <a:latin typeface="Calibri"/>
                  <a:ea typeface="Microsoft YaHei"/>
                  <a:cs typeface="Calibri"/>
                </a:rPr>
                <a:t>Verbal Mapping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0570" y="2584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口頭帶教對應難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6285" y="29375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紙本或口頭說明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76285" y="31470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難以對應真實儲位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457450" y="3752850"/>
            <a:ext cx="3524250" cy="2000250"/>
            <a:chOff x="2457450" y="3752850"/>
            <a:chExt cx="3524250" cy="2000250"/>
          </a:xfrm>
        </p:grpSpPr>
        <p:sp>
          <p:nvSpPr>
            <p:cNvPr id="42" name="Rectangle 42"/>
            <p:cNvSpPr/>
            <p:nvPr/>
          </p:nvSpPr>
          <p:spPr>
            <a:xfrm>
              <a:off x="2457450" y="3752850"/>
              <a:ext cx="3524250" cy="20002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457450" y="3752850"/>
              <a:ext cx="76200" cy="2000250"/>
            </a:xfrm>
            <a:prstGeom prst="roundRect">
              <a:avLst>
                <a:gd name="adj" fmla="val 50000"/>
              </a:avLst>
            </a:prstGeom>
            <a:solidFill>
              <a:srgbClr val="C1AB7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2809875" y="4105275"/>
              <a:ext cx="285750" cy="285750"/>
              <a:chOff x="2809875" y="4105275"/>
              <a:chExt cx="285750" cy="2857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841625" y="41052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809875" y="42957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3016250" y="41073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19"/>
                      <a:pt x="28097" y="115837"/>
                      <a:pt x="0" y="123031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048000" y="4298156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2745105" y="4559618"/>
              <a:ext cx="12251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1AB7A"/>
                  </a:solidFill>
                  <a:latin typeface="Calibri"/>
                  <a:ea typeface="Microsoft YaHei"/>
                  <a:cs typeface="Calibri"/>
                </a:rPr>
                <a:t>On-site Cost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741295" y="48129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現場帶場成本高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747010" y="51663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實際帶場耗費人力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747010" y="53759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且影響現場作業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210300" y="3752850"/>
            <a:ext cx="3524250" cy="2000250"/>
            <a:chOff x="6210300" y="3752850"/>
            <a:chExt cx="3524250" cy="2000250"/>
          </a:xfrm>
        </p:grpSpPr>
        <p:sp>
          <p:nvSpPr>
            <p:cNvPr id="54" name="Rectangle 54"/>
            <p:cNvSpPr/>
            <p:nvPr/>
          </p:nvSpPr>
          <p:spPr>
            <a:xfrm>
              <a:off x="6210300" y="3752850"/>
              <a:ext cx="3524250" cy="20002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10300" y="3752850"/>
              <a:ext cx="76200" cy="2000250"/>
            </a:xfrm>
            <a:prstGeom prst="roundRect">
              <a:avLst>
                <a:gd name="adj" fmla="val 50000"/>
              </a:avLst>
            </a:prstGeom>
            <a:solidFill>
              <a:srgbClr val="303030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562725" y="4105275"/>
              <a:ext cx="285750" cy="285750"/>
              <a:chOff x="6562725" y="4105275"/>
              <a:chExt cx="285750" cy="28575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562725" y="410527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05600" y="42005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05600" y="431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497955" y="455961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03030"/>
                  </a:solidFill>
                  <a:latin typeface="Calibri"/>
                  <a:ea typeface="Microsoft YaHei"/>
                  <a:cs typeface="Calibri"/>
                </a:rPr>
                <a:t>Mislocation Rate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94145" y="48129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定位錯誤率高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99860" y="51663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新人獨立作業後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99860" y="53759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找尋儲位錯誤率高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" y="6477000"/>
            <a:ext cx="11049000" cy="238125"/>
            <a:chOff x="571500" y="6477000"/>
            <a:chExt cx="11049000" cy="238125"/>
          </a:xfrm>
        </p:grpSpPr>
        <p:sp>
          <p:nvSpPr>
            <p:cNvPr id="65" name="Rectangle 65"/>
            <p:cNvSpPr/>
            <p:nvPr/>
          </p:nvSpPr>
          <p:spPr>
            <a:xfrm>
              <a:off x="571500" y="6477000"/>
              <a:ext cx="11049000" cy="209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5320" y="6532245"/>
              <a:ext cx="5237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PEGATRON Corporation © All Rights Reserved. No Further Distribution without Permission.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34795" y="65322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30" grpId="0"/>
      <p:bldP spid="41" grpId="0"/>
      <p:bldP spid="53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38150"/>
            <a:ext cx="11049000" cy="766762"/>
            <a:chOff x="571500" y="438150"/>
            <a:chExt cx="11049000" cy="766762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32460" y="470535"/>
              <a:ext cx="36222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3D 數位孿生培訓平臺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5795" y="869632"/>
              <a:ext cx="44204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Solution Overview — 讓新人用身體記住倉庫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162050"/>
              <a:ext cx="762000" cy="38100"/>
            </a:xfrm>
            <a:prstGeom prst="rect">
              <a:avLst/>
            </a:prstGeom>
            <a:solidFill>
              <a:srgbClr val="A6906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524000"/>
            <a:ext cx="6667500" cy="2571750"/>
            <a:chOff x="571500" y="1524000"/>
            <a:chExt cx="6667500" cy="2571750"/>
          </a:xfrm>
        </p:grpSpPr>
        <p:sp>
          <p:nvSpPr>
            <p:cNvPr id="8" name="Rectangle 8"/>
            <p:cNvSpPr/>
            <p:nvPr/>
          </p:nvSpPr>
          <p:spPr>
            <a:xfrm>
              <a:off x="571500" y="1524000"/>
              <a:ext cx="6667500" cy="2571750"/>
            </a:xfrm>
            <a:prstGeom prst="roundRect">
              <a:avLst>
                <a:gd name="adj" fmla="val 2963"/>
              </a:avLst>
            </a:prstGeom>
            <a:solidFill>
              <a:srgbClr val="E8E8E8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9426" y="1524000"/>
              <a:ext cx="4231648" cy="2571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571500" y="1524000"/>
              <a:ext cx="6667500" cy="266700"/>
            </a:xfrm>
            <a:prstGeom prst="roundRect">
              <a:avLst>
                <a:gd name="adj" fmla="val 28571"/>
              </a:avLst>
            </a:prstGeom>
            <a:solidFill>
              <a:srgbClr val="000000">
                <a:alpha val="5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0565" y="1591628"/>
              <a:ext cx="11146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微軟正黑體"/>
                  <a:ea typeface="Microsoft JhengHei"/>
                  <a:cs typeface="微軟正黑體"/>
                </a:rPr>
                <a:t>3D 鳥瞰倉庫全景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4286250"/>
            <a:ext cx="6667500" cy="1819275"/>
            <a:chOff x="571500" y="4286250"/>
            <a:chExt cx="6667500" cy="1819275"/>
          </a:xfrm>
        </p:grpSpPr>
        <p:sp>
          <p:nvSpPr>
            <p:cNvPr id="13" name="Rectangle 13"/>
            <p:cNvSpPr/>
            <p:nvPr/>
          </p:nvSpPr>
          <p:spPr>
            <a:xfrm>
              <a:off x="571500" y="4286250"/>
              <a:ext cx="6667500" cy="1809750"/>
            </a:xfrm>
            <a:prstGeom prst="roundRect">
              <a:avLst>
                <a:gd name="adj" fmla="val 4211"/>
              </a:avLst>
            </a:prstGeom>
            <a:solidFill>
              <a:srgbClr val="E8E8E8"/>
            </a:solidFill>
            <a:ln>
              <a:noFill/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3522" y="4295775"/>
              <a:ext cx="4247552" cy="1809750"/>
            </a:xfrm>
            <a:prstGeom prst="rect">
              <a:avLst/>
            </a:prstGeom>
          </p:spPr>
        </p:pic>
        <p:sp>
          <p:nvSpPr>
            <p:cNvPr id="15" name="Rectangle 15"/>
            <p:cNvSpPr/>
            <p:nvPr/>
          </p:nvSpPr>
          <p:spPr>
            <a:xfrm>
              <a:off x="571500" y="4286250"/>
              <a:ext cx="6667500" cy="266700"/>
            </a:xfrm>
            <a:prstGeom prst="roundRect">
              <a:avLst>
                <a:gd name="adj" fmla="val 28571"/>
              </a:avLst>
            </a:prstGeom>
            <a:solidFill>
              <a:srgbClr val="A69060">
                <a:alpha val="9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0565" y="4353878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微軟正黑體"/>
                  <a:ea typeface="Microsoft JhengHei"/>
                  <a:cs typeface="微軟正黑體"/>
                </a:rPr>
                <a:t>第一人稱視角模擬倉庫地形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24750" y="1524000"/>
            <a:ext cx="4095750" cy="1014412"/>
            <a:chOff x="7524750" y="1524000"/>
            <a:chExt cx="4095750" cy="1014412"/>
          </a:xfrm>
        </p:grpSpPr>
        <p:sp>
          <p:nvSpPr>
            <p:cNvPr id="18" name="Rectangle 18"/>
            <p:cNvSpPr/>
            <p:nvPr/>
          </p:nvSpPr>
          <p:spPr>
            <a:xfrm>
              <a:off x="7524750" y="1524000"/>
              <a:ext cx="4095750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0" y="1524000"/>
              <a:ext cx="76200" cy="1000125"/>
            </a:xfrm>
            <a:prstGeom prst="roundRect">
              <a:avLst>
                <a:gd name="adj" fmla="val 50000"/>
              </a:avLst>
            </a:prstGeom>
            <a:solidFill>
              <a:srgbClr val="A69060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796212" y="1847850"/>
              <a:ext cx="257175" cy="242888"/>
              <a:chOff x="7796212" y="1847850"/>
              <a:chExt cx="257175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796212" y="1847850"/>
                <a:ext cx="25717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42888">
                    <a:moveTo>
                      <a:pt x="0" y="242888"/>
                    </a:moveTo>
                    <a:lnTo>
                      <a:pt x="0" y="57150"/>
                    </a:lnTo>
                    <a:lnTo>
                      <a:pt x="128588" y="0"/>
                    </a:lnTo>
                    <a:lnTo>
                      <a:pt x="257175" y="57150"/>
                    </a:lnTo>
                    <a:lnTo>
                      <a:pt x="257175" y="242888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853362" y="1976438"/>
                <a:ext cx="142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4300">
                    <a:moveTo>
                      <a:pt x="85725" y="0"/>
                    </a:moveTo>
                    <a:lnTo>
                      <a:pt x="142875" y="0"/>
                    </a:lnTo>
                    <a:lnTo>
                      <a:pt x="142875" y="114300"/>
                    </a:lnTo>
                    <a:lnTo>
                      <a:pt x="0" y="114300"/>
                    </a:lnTo>
                    <a:lnTo>
                      <a:pt x="0" y="28575"/>
                    </a:lnTo>
                    <a:lnTo>
                      <a:pt x="85725" y="28575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881938" y="1947862"/>
                <a:ext cx="571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75">
                    <a:moveTo>
                      <a:pt x="57150" y="142875"/>
                    </a:moveTo>
                    <a:lnTo>
                      <a:pt x="57150" y="14288"/>
                    </a:lnTo>
                    <a:cubicBezTo>
                      <a:pt x="57150" y="6397"/>
                      <a:pt x="50753" y="0"/>
                      <a:pt x="42862" y="0"/>
                    </a:cubicBezTo>
                    <a:lnTo>
                      <a:pt x="14288" y="0"/>
                    </a:lnTo>
                    <a:cubicBezTo>
                      <a:pt x="6397" y="0"/>
                      <a:pt x="0" y="6397"/>
                      <a:pt x="0" y="14288"/>
                    </a:cubicBezTo>
                    <a:lnTo>
                      <a:pt x="0" y="5715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229600" y="1838325"/>
              <a:ext cx="16553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真實比例 3D 倉庫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5315" y="2115502"/>
              <a:ext cx="18055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69060"/>
                  </a:solidFill>
                  <a:latin typeface="Calibri"/>
                  <a:ea typeface="Microsoft YaHei"/>
                  <a:cs typeface="Calibri"/>
                </a:rPr>
                <a:t>True-Scale 3D Warehouse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35315" y="232505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真實貨架與儲位，空間關係一目瞭然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24750" y="2676525"/>
            <a:ext cx="4095750" cy="1014413"/>
            <a:chOff x="7524750" y="2676525"/>
            <a:chExt cx="4095750" cy="1014413"/>
          </a:xfrm>
        </p:grpSpPr>
        <p:sp>
          <p:nvSpPr>
            <p:cNvPr id="28" name="Rectangle 28"/>
            <p:cNvSpPr/>
            <p:nvPr/>
          </p:nvSpPr>
          <p:spPr>
            <a:xfrm>
              <a:off x="7524750" y="2676525"/>
              <a:ext cx="4095750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0" y="2676525"/>
              <a:ext cx="76200" cy="1000125"/>
            </a:xfrm>
            <a:prstGeom prst="roundRect">
              <a:avLst>
                <a:gd name="adj" fmla="val 50000"/>
              </a:avLst>
            </a:prstGeom>
            <a:solidFill>
              <a:srgbClr val="00ABC2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839075" y="2986088"/>
              <a:ext cx="171450" cy="257175"/>
              <a:chOff x="7839075" y="2986088"/>
              <a:chExt cx="171450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867650" y="298608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839075" y="3157538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229600" y="299085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第一人稱視角模擬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35315" y="3268028"/>
              <a:ext cx="17320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BC2"/>
                  </a:solidFill>
                  <a:latin typeface="Calibri"/>
                  <a:ea typeface="Microsoft YaHei"/>
                  <a:cs typeface="Calibri"/>
                </a:rPr>
                <a:t>First-Person Simulation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35315" y="347757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身歷其境行走倉庫，熟悉地形與動線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24750" y="3829050"/>
            <a:ext cx="4095750" cy="1014412"/>
            <a:chOff x="7524750" y="3829050"/>
            <a:chExt cx="4095750" cy="1014412"/>
          </a:xfrm>
        </p:grpSpPr>
        <p:sp>
          <p:nvSpPr>
            <p:cNvPr id="37" name="Rectangle 37"/>
            <p:cNvSpPr/>
            <p:nvPr/>
          </p:nvSpPr>
          <p:spPr>
            <a:xfrm>
              <a:off x="7524750" y="3829050"/>
              <a:ext cx="4095750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24750" y="3829050"/>
              <a:ext cx="76200" cy="1000125"/>
            </a:xfrm>
            <a:prstGeom prst="roundRect">
              <a:avLst>
                <a:gd name="adj" fmla="val 50000"/>
              </a:avLst>
            </a:prstGeom>
            <a:solidFill>
              <a:srgbClr val="1295D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799340" y="4127458"/>
              <a:ext cx="250919" cy="278047"/>
              <a:chOff x="7799340" y="4127458"/>
              <a:chExt cx="250919" cy="27804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881938" y="42100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99340" y="4127458"/>
                <a:ext cx="250919" cy="278047"/>
              </a:xfrm>
              <a:custGeom>
                <a:avLst/>
                <a:gdLst/>
                <a:ahLst/>
                <a:cxnLst/>
                <a:rect l="l" t="t" r="r" b="b"/>
                <a:pathLst>
                  <a:path w="250919" h="278047">
                    <a:moveTo>
                      <a:pt x="206284" y="206279"/>
                    </a:moveTo>
                    <a:lnTo>
                      <a:pt x="145662" y="266901"/>
                    </a:lnTo>
                    <a:cubicBezTo>
                      <a:pt x="134505" y="278047"/>
                      <a:pt x="116428" y="278047"/>
                      <a:pt x="105271" y="266901"/>
                    </a:cubicBezTo>
                    <a:lnTo>
                      <a:pt x="44635" y="206279"/>
                    </a:lnTo>
                    <a:cubicBezTo>
                      <a:pt x="0" y="161642"/>
                      <a:pt x="1" y="89272"/>
                      <a:pt x="44638" y="44636"/>
                    </a:cubicBezTo>
                    <a:cubicBezTo>
                      <a:pt x="89275" y="0"/>
                      <a:pt x="161644" y="0"/>
                      <a:pt x="206281" y="44636"/>
                    </a:cubicBezTo>
                    <a:cubicBezTo>
                      <a:pt x="250918" y="89272"/>
                      <a:pt x="250919" y="161642"/>
                      <a:pt x="206284" y="206279"/>
                    </a:cubicBez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229600" y="41433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自由導航與點擊定位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35315" y="4420552"/>
              <a:ext cx="2437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295D8"/>
                  </a:solidFill>
                  <a:latin typeface="Calibri"/>
                  <a:ea typeface="Microsoft YaHei"/>
                  <a:cs typeface="Calibri"/>
                </a:rPr>
                <a:t>Free Navigation &amp; Click-to-Locate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35315" y="46301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任意角度移動，點擊即可定位儲位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524750" y="4981575"/>
            <a:ext cx="4095750" cy="1014413"/>
            <a:chOff x="7524750" y="4981575"/>
            <a:chExt cx="4095750" cy="1014413"/>
          </a:xfrm>
        </p:grpSpPr>
        <p:sp>
          <p:nvSpPr>
            <p:cNvPr id="46" name="Rectangle 46"/>
            <p:cNvSpPr/>
            <p:nvPr/>
          </p:nvSpPr>
          <p:spPr>
            <a:xfrm>
              <a:off x="7524750" y="4981575"/>
              <a:ext cx="4095750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24750" y="4981575"/>
              <a:ext cx="76200" cy="1000125"/>
            </a:xfrm>
            <a:prstGeom prst="roundRect">
              <a:avLst>
                <a:gd name="adj" fmla="val 50000"/>
              </a:avLst>
            </a:prstGeom>
            <a:solidFill>
              <a:srgbClr val="C1AB7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776931" y="5291138"/>
              <a:ext cx="279010" cy="257174"/>
              <a:chOff x="7776931" y="5291138"/>
              <a:chExt cx="279010" cy="257174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776931" y="5291138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67662" y="549116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229600" y="5295900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可重複安全訓練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35315" y="5573078"/>
              <a:ext cx="1783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AB7A"/>
                  </a:solidFill>
                  <a:latin typeface="Calibri"/>
                  <a:ea typeface="Microsoft YaHei"/>
                  <a:cs typeface="Calibri"/>
                </a:rPr>
                <a:t>Repeatable Safe Training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35315" y="5782628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標準化數位場景，隨時複習與考核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6477000"/>
            <a:ext cx="11049000" cy="238125"/>
            <a:chOff x="571500" y="6477000"/>
            <a:chExt cx="11049000" cy="238125"/>
          </a:xfrm>
        </p:grpSpPr>
        <p:sp>
          <p:nvSpPr>
            <p:cNvPr id="55" name="Rectangle 55"/>
            <p:cNvSpPr/>
            <p:nvPr/>
          </p:nvSpPr>
          <p:spPr>
            <a:xfrm>
              <a:off x="571500" y="6477000"/>
              <a:ext cx="11049000" cy="209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320" y="6532245"/>
              <a:ext cx="5237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PEGATRON Corporation © All Rights Reserved. No Further Distribution without Permission.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34795" y="65322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  <p:bldP spid="27" grpId="0"/>
      <p:bldP spid="36" grpId="0"/>
      <p:bldP spid="45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38150"/>
            <a:ext cx="11049000" cy="766762"/>
            <a:chOff x="571500" y="438150"/>
            <a:chExt cx="11049000" cy="766762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32460" y="470535"/>
              <a:ext cx="36222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料號搜索與儲位顯示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5795" y="869632"/>
              <a:ext cx="44204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Material Search &amp; Storage Location — 快速定位，一目瞭然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162050"/>
              <a:ext cx="762000" cy="38100"/>
            </a:xfrm>
            <a:prstGeom prst="rect">
              <a:avLst/>
            </a:prstGeom>
            <a:solidFill>
              <a:srgbClr val="A6906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524000"/>
            <a:ext cx="6667500" cy="2571750"/>
            <a:chOff x="571500" y="1524000"/>
            <a:chExt cx="6667500" cy="2571750"/>
          </a:xfrm>
        </p:grpSpPr>
        <p:sp>
          <p:nvSpPr>
            <p:cNvPr id="8" name="Rectangle 8"/>
            <p:cNvSpPr/>
            <p:nvPr/>
          </p:nvSpPr>
          <p:spPr>
            <a:xfrm>
              <a:off x="571500" y="1524000"/>
              <a:ext cx="6667500" cy="2571750"/>
            </a:xfrm>
            <a:prstGeom prst="roundRect">
              <a:avLst>
                <a:gd name="adj" fmla="val 2963"/>
              </a:avLst>
            </a:prstGeom>
            <a:solidFill>
              <a:srgbClr val="E8E8E8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9426" y="1524000"/>
              <a:ext cx="4231648" cy="2571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571500" y="1524000"/>
              <a:ext cx="6667500" cy="266700"/>
            </a:xfrm>
            <a:prstGeom prst="roundRect">
              <a:avLst>
                <a:gd name="adj" fmla="val 28571"/>
              </a:avLst>
            </a:prstGeom>
            <a:solidFill>
              <a:srgbClr val="000000">
                <a:alpha val="5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0565" y="1591628"/>
              <a:ext cx="11146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微軟正黑體"/>
                  <a:ea typeface="Microsoft JhengHei"/>
                  <a:cs typeface="微軟正黑體"/>
                </a:rPr>
                <a:t>3D 料號搜索定位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4286250"/>
            <a:ext cx="6667500" cy="1819275"/>
            <a:chOff x="571500" y="4286250"/>
            <a:chExt cx="6667500" cy="1819275"/>
          </a:xfrm>
        </p:grpSpPr>
        <p:sp>
          <p:nvSpPr>
            <p:cNvPr id="13" name="Rectangle 13"/>
            <p:cNvSpPr/>
            <p:nvPr/>
          </p:nvSpPr>
          <p:spPr>
            <a:xfrm>
              <a:off x="571500" y="4286250"/>
              <a:ext cx="6667500" cy="1809750"/>
            </a:xfrm>
            <a:prstGeom prst="roundRect">
              <a:avLst>
                <a:gd name="adj" fmla="val 4211"/>
              </a:avLst>
            </a:prstGeom>
            <a:solidFill>
              <a:srgbClr val="E8E8E8"/>
            </a:solidFill>
            <a:ln>
              <a:noFill/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3522" y="4295775"/>
              <a:ext cx="4247552" cy="1809750"/>
            </a:xfrm>
            <a:prstGeom prst="rect">
              <a:avLst/>
            </a:prstGeom>
          </p:spPr>
        </p:pic>
        <p:sp>
          <p:nvSpPr>
            <p:cNvPr id="15" name="Rectangle 15"/>
            <p:cNvSpPr/>
            <p:nvPr/>
          </p:nvSpPr>
          <p:spPr>
            <a:xfrm>
              <a:off x="571500" y="4286250"/>
              <a:ext cx="6667500" cy="266700"/>
            </a:xfrm>
            <a:prstGeom prst="roundRect">
              <a:avLst>
                <a:gd name="adj" fmla="val 28571"/>
              </a:avLst>
            </a:prstGeom>
            <a:solidFill>
              <a:srgbClr val="A69060">
                <a:alpha val="9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0565" y="4353878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微軟正黑體"/>
                  <a:ea typeface="Microsoft JhengHei"/>
                  <a:cs typeface="微軟正黑體"/>
                </a:rPr>
                <a:t>儲位詳情顯示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24750" y="1524000"/>
            <a:ext cx="4095750" cy="1014412"/>
            <a:chOff x="7524750" y="1524000"/>
            <a:chExt cx="4095750" cy="1014412"/>
          </a:xfrm>
        </p:grpSpPr>
        <p:sp>
          <p:nvSpPr>
            <p:cNvPr id="18" name="Rectangle 18"/>
            <p:cNvSpPr/>
            <p:nvPr/>
          </p:nvSpPr>
          <p:spPr>
            <a:xfrm>
              <a:off x="7524750" y="1524000"/>
              <a:ext cx="4095750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0" y="1524000"/>
              <a:ext cx="76200" cy="1000125"/>
            </a:xfrm>
            <a:prstGeom prst="roundRect">
              <a:avLst>
                <a:gd name="adj" fmla="val 50000"/>
              </a:avLst>
            </a:prstGeom>
            <a:solidFill>
              <a:srgbClr val="A69060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796212" y="1847850"/>
              <a:ext cx="257175" cy="242888"/>
              <a:chOff x="7796212" y="1847850"/>
              <a:chExt cx="257175" cy="2428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796212" y="1847850"/>
                <a:ext cx="25717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42888">
                    <a:moveTo>
                      <a:pt x="0" y="242888"/>
                    </a:moveTo>
                    <a:lnTo>
                      <a:pt x="0" y="57150"/>
                    </a:lnTo>
                    <a:lnTo>
                      <a:pt x="128588" y="0"/>
                    </a:lnTo>
                    <a:lnTo>
                      <a:pt x="257175" y="57150"/>
                    </a:lnTo>
                    <a:lnTo>
                      <a:pt x="257175" y="242888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853362" y="1976438"/>
                <a:ext cx="142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4300">
                    <a:moveTo>
                      <a:pt x="85725" y="0"/>
                    </a:moveTo>
                    <a:lnTo>
                      <a:pt x="142875" y="0"/>
                    </a:lnTo>
                    <a:lnTo>
                      <a:pt x="142875" y="114300"/>
                    </a:lnTo>
                    <a:lnTo>
                      <a:pt x="0" y="114300"/>
                    </a:lnTo>
                    <a:lnTo>
                      <a:pt x="0" y="28575"/>
                    </a:lnTo>
                    <a:lnTo>
                      <a:pt x="85725" y="28575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881938" y="1947862"/>
                <a:ext cx="571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75">
                    <a:moveTo>
                      <a:pt x="57150" y="142875"/>
                    </a:moveTo>
                    <a:lnTo>
                      <a:pt x="57150" y="14288"/>
                    </a:lnTo>
                    <a:cubicBezTo>
                      <a:pt x="57150" y="6397"/>
                      <a:pt x="50753" y="0"/>
                      <a:pt x="42862" y="0"/>
                    </a:cubicBezTo>
                    <a:lnTo>
                      <a:pt x="14288" y="0"/>
                    </a:lnTo>
                    <a:cubicBezTo>
                      <a:pt x="6397" y="0"/>
                      <a:pt x="0" y="6397"/>
                      <a:pt x="0" y="14288"/>
                    </a:cubicBezTo>
                    <a:lnTo>
                      <a:pt x="0" y="5715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229600" y="1838325"/>
              <a:ext cx="16553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料號快速搜索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5315" y="2115502"/>
              <a:ext cx="18055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69060"/>
                  </a:solidFill>
                  <a:latin typeface="Calibri"/>
                  <a:ea typeface="Microsoft YaHei"/>
                  <a:cs typeface="Calibri"/>
                </a:rPr>
                <a:t>Material Search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35315" y="232505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輸入料號，3D 視角即時高亮顯示物料位置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24750" y="2676525"/>
            <a:ext cx="4095750" cy="1014413"/>
            <a:chOff x="7524750" y="2676525"/>
            <a:chExt cx="4095750" cy="1014413"/>
          </a:xfrm>
        </p:grpSpPr>
        <p:sp>
          <p:nvSpPr>
            <p:cNvPr id="28" name="Rectangle 28"/>
            <p:cNvSpPr/>
            <p:nvPr/>
          </p:nvSpPr>
          <p:spPr>
            <a:xfrm>
              <a:off x="7524750" y="2676525"/>
              <a:ext cx="4095750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0" y="2676525"/>
              <a:ext cx="76200" cy="1000125"/>
            </a:xfrm>
            <a:prstGeom prst="roundRect">
              <a:avLst>
                <a:gd name="adj" fmla="val 50000"/>
              </a:avLst>
            </a:prstGeom>
            <a:solidFill>
              <a:srgbClr val="00ABC2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839075" y="2986088"/>
              <a:ext cx="171450" cy="257175"/>
              <a:chOff x="7839075" y="2986088"/>
              <a:chExt cx="171450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867650" y="298608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839075" y="3157538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229600" y="299085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儲位詳情一覽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35315" y="3268028"/>
              <a:ext cx="17320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BC2"/>
                  </a:solidFill>
                  <a:latin typeface="Calibri"/>
                  <a:ea typeface="Microsoft YaHei"/>
                  <a:cs typeface="Calibri"/>
                </a:rPr>
                <a:t>Storage Location Details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35315" y="347757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點擊儲位顯示箱號、料號、數量與入庫時間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24750" y="3829050"/>
            <a:ext cx="4095750" cy="1014412"/>
            <a:chOff x="7524750" y="3829050"/>
            <a:chExt cx="4095750" cy="1014412"/>
          </a:xfrm>
        </p:grpSpPr>
        <p:sp>
          <p:nvSpPr>
            <p:cNvPr id="37" name="Rectangle 37"/>
            <p:cNvSpPr/>
            <p:nvPr/>
          </p:nvSpPr>
          <p:spPr>
            <a:xfrm>
              <a:off x="7524750" y="3829050"/>
              <a:ext cx="4095750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24750" y="3829050"/>
              <a:ext cx="76200" cy="1000125"/>
            </a:xfrm>
            <a:prstGeom prst="roundRect">
              <a:avLst>
                <a:gd name="adj" fmla="val 50000"/>
              </a:avLst>
            </a:prstGeom>
            <a:solidFill>
              <a:srgbClr val="1295D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799340" y="4127458"/>
              <a:ext cx="250919" cy="278047"/>
              <a:chOff x="7799340" y="4127458"/>
              <a:chExt cx="250919" cy="27804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881938" y="42100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99340" y="4127458"/>
                <a:ext cx="250919" cy="278047"/>
              </a:xfrm>
              <a:custGeom>
                <a:avLst/>
                <a:gdLst/>
                <a:ahLst/>
                <a:cxnLst/>
                <a:rect l="l" t="t" r="r" b="b"/>
                <a:pathLst>
                  <a:path w="250919" h="278047">
                    <a:moveTo>
                      <a:pt x="206284" y="206279"/>
                    </a:moveTo>
                    <a:lnTo>
                      <a:pt x="145662" y="266901"/>
                    </a:lnTo>
                    <a:cubicBezTo>
                      <a:pt x="134505" y="278047"/>
                      <a:pt x="116428" y="278047"/>
                      <a:pt x="105271" y="266901"/>
                    </a:cubicBezTo>
                    <a:lnTo>
                      <a:pt x="44635" y="206279"/>
                    </a:lnTo>
                    <a:cubicBezTo>
                      <a:pt x="0" y="161642"/>
                      <a:pt x="1" y="89272"/>
                      <a:pt x="44638" y="44636"/>
                    </a:cubicBezTo>
                    <a:cubicBezTo>
                      <a:pt x="89275" y="0"/>
                      <a:pt x="161644" y="0"/>
                      <a:pt x="206281" y="44636"/>
                    </a:cubicBezTo>
                    <a:cubicBezTo>
                      <a:pt x="250918" y="89272"/>
                      <a:pt x="250919" y="161642"/>
                      <a:pt x="206284" y="206279"/>
                    </a:cubicBez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229600" y="41433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多倉快速切換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35315" y="4420552"/>
              <a:ext cx="2437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295D8"/>
                  </a:solidFill>
                  <a:latin typeface="Calibri"/>
                  <a:ea typeface="Microsoft YaHei"/>
                  <a:cs typeface="Calibri"/>
                </a:rPr>
                <a:t>Multi-Warehouse Switch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35315" y="46301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支援 A/C/D 倉一鍵切換，即時定位目標物料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524750" y="4981575"/>
            <a:ext cx="4095750" cy="1014413"/>
            <a:chOff x="7524750" y="4981575"/>
            <a:chExt cx="4095750" cy="1014413"/>
          </a:xfrm>
        </p:grpSpPr>
        <p:sp>
          <p:nvSpPr>
            <p:cNvPr id="46" name="Rectangle 46"/>
            <p:cNvSpPr/>
            <p:nvPr/>
          </p:nvSpPr>
          <p:spPr>
            <a:xfrm>
              <a:off x="7524750" y="4981575"/>
              <a:ext cx="4095750" cy="1000125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24750" y="4981575"/>
              <a:ext cx="76200" cy="1000125"/>
            </a:xfrm>
            <a:prstGeom prst="roundRect">
              <a:avLst>
                <a:gd name="adj" fmla="val 50000"/>
              </a:avLst>
            </a:prstGeom>
            <a:solidFill>
              <a:srgbClr val="C1AB7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776931" y="5291138"/>
              <a:ext cx="279010" cy="257174"/>
              <a:chOff x="7776931" y="5291138"/>
              <a:chExt cx="279010" cy="257174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776931" y="5291138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67662" y="549116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229600" y="5295900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精確座標標記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35315" y="5573078"/>
              <a:ext cx="1783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AB7A"/>
                  </a:solidFill>
                  <a:latin typeface="Calibri"/>
                  <a:ea typeface="Microsoft YaHei"/>
                  <a:cs typeface="Calibri"/>
                </a:rPr>
                <a:t>Precise Location Pinpointing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35315" y="5782628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綠色指引線精準標示儲位，消除空間判斷誤差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6477000"/>
            <a:ext cx="11049000" cy="238125"/>
            <a:chOff x="571500" y="6477000"/>
            <a:chExt cx="11049000" cy="238125"/>
          </a:xfrm>
        </p:grpSpPr>
        <p:sp>
          <p:nvSpPr>
            <p:cNvPr id="55" name="Rectangle 55"/>
            <p:cNvSpPr/>
            <p:nvPr/>
          </p:nvSpPr>
          <p:spPr>
            <a:xfrm>
              <a:off x="571500" y="6477000"/>
              <a:ext cx="11049000" cy="209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320" y="6532245"/>
              <a:ext cx="5237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PEGATRON Corporation © All Rights Reserved. No Further Distribution without Permission.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34795" y="65322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614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  <p:bldP spid="27" grpId="0"/>
      <p:bldP spid="36" grpId="0"/>
      <p:bldP spid="45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38150"/>
            <a:ext cx="11049000" cy="766762"/>
            <a:chOff x="571500" y="438150"/>
            <a:chExt cx="11049000" cy="766762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32460" y="470535"/>
              <a:ext cx="5399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從 2D 到 3D：地形認知成效對比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5795" y="869632"/>
              <a:ext cx="34523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2D vs 3D Layout Learning Impact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162050"/>
              <a:ext cx="762000" cy="38100"/>
            </a:xfrm>
            <a:prstGeom prst="rect">
              <a:avLst/>
            </a:prstGeom>
            <a:solidFill>
              <a:srgbClr val="A6906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428750"/>
            <a:ext cx="5334000" cy="2933700"/>
            <a:chOff x="571500" y="1428750"/>
            <a:chExt cx="5334000" cy="2933700"/>
          </a:xfrm>
        </p:grpSpPr>
        <p:sp>
          <p:nvSpPr>
            <p:cNvPr id="8" name="Rectangle 8"/>
            <p:cNvSpPr/>
            <p:nvPr/>
          </p:nvSpPr>
          <p:spPr>
            <a:xfrm>
              <a:off x="571500" y="1428750"/>
              <a:ext cx="5334000" cy="381000"/>
            </a:xfrm>
            <a:prstGeom prst="roundRect">
              <a:avLst>
                <a:gd name="adj" fmla="val 20000"/>
              </a:avLst>
            </a:prstGeom>
            <a:solidFill>
              <a:srgbClr val="E8E8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92701" y="153066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Before · 2D 紙圖 / 口頭帶教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885950"/>
              <a:ext cx="5334000" cy="2476500"/>
            </a:xfrm>
            <a:prstGeom prst="roundRect">
              <a:avLst>
                <a:gd name="adj" fmla="val 3077"/>
              </a:avLst>
            </a:prstGeom>
            <a:solidFill>
              <a:srgbClr val="F5F5F5"/>
            </a:solidFill>
            <a:ln w="9525">
              <a:solidFill>
                <a:srgbClr val="E8E8E8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9253" y="1981200"/>
              <a:ext cx="4218495" cy="22860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6286500" y="1428750"/>
            <a:ext cx="5334000" cy="2933700"/>
            <a:chOff x="6286500" y="1428750"/>
            <a:chExt cx="5334000" cy="2933700"/>
          </a:xfrm>
        </p:grpSpPr>
        <p:sp>
          <p:nvSpPr>
            <p:cNvPr id="13" name="Rectangle 13"/>
            <p:cNvSpPr/>
            <p:nvPr/>
          </p:nvSpPr>
          <p:spPr>
            <a:xfrm>
              <a:off x="6286500" y="1428750"/>
              <a:ext cx="5334000" cy="381000"/>
            </a:xfrm>
            <a:prstGeom prst="roundRect">
              <a:avLst>
                <a:gd name="adj" fmla="val 20000"/>
              </a:avLst>
            </a:prstGeom>
            <a:solidFill>
              <a:srgbClr val="A6906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68372" y="1530668"/>
              <a:ext cx="21702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軟正黑體"/>
                  <a:ea typeface="Microsoft JhengHei"/>
                  <a:cs typeface="微軟正黑體"/>
                </a:rPr>
                <a:t>After · 3D 數位孿生培訓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885950"/>
              <a:ext cx="5334000" cy="2476500"/>
            </a:xfrm>
            <a:prstGeom prst="roundRect">
              <a:avLst>
                <a:gd name="adj" fmla="val 3077"/>
              </a:avLst>
            </a:prstGeom>
            <a:solidFill>
              <a:srgbClr val="F5F5F5"/>
            </a:solidFill>
            <a:ln w="9525">
              <a:solidFill>
                <a:srgbClr val="E8E8E8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72768" y="1981200"/>
              <a:ext cx="3761465" cy="22860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5867400" y="2628900"/>
            <a:ext cx="457200" cy="457200"/>
            <a:chOff x="5867400" y="2628900"/>
            <a:chExt cx="457200" cy="457200"/>
          </a:xfrm>
        </p:grpSpPr>
        <p:sp>
          <p:nvSpPr>
            <p:cNvPr id="18" name="Ellipse 18"/>
            <p:cNvSpPr/>
            <p:nvPr/>
          </p:nvSpPr>
          <p:spPr>
            <a:xfrm>
              <a:off x="5867400" y="26289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A6906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88348" y="27946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69060"/>
                  </a:solidFill>
                  <a:latin typeface="Calibri"/>
                  <a:ea typeface="Microsoft YaHei"/>
                  <a:cs typeface="Calibri"/>
                </a:rPr>
                <a:t>VS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4572000"/>
            <a:ext cx="3429000" cy="1333500"/>
            <a:chOff x="762000" y="4572000"/>
            <a:chExt cx="3429000" cy="1333500"/>
          </a:xfrm>
        </p:grpSpPr>
        <p:sp>
          <p:nvSpPr>
            <p:cNvPr id="21" name="Rectangle 21"/>
            <p:cNvSpPr/>
            <p:nvPr/>
          </p:nvSpPr>
          <p:spPr>
            <a:xfrm>
              <a:off x="762000" y="4572000"/>
              <a:ext cx="34290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4572000"/>
              <a:ext cx="76200" cy="1333500"/>
            </a:xfrm>
            <a:prstGeom prst="roundRect">
              <a:avLst>
                <a:gd name="adj" fmla="val 50000"/>
              </a:avLst>
            </a:prstGeom>
            <a:solidFill>
              <a:srgbClr val="1295D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028700" y="4876800"/>
              <a:ext cx="228600" cy="152400"/>
              <a:chOff x="1028700" y="4876800"/>
              <a:chExt cx="228600" cy="1524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117600" y="49276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28700" y="487680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228600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600" y="76200"/>
                    </a:cubicBez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390650" y="48482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空間認知速度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96365" y="5106352"/>
              <a:ext cx="1621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295D8"/>
                  </a:solidFill>
                  <a:latin typeface="Calibri"/>
                  <a:ea typeface="Microsoft YaHei"/>
                  <a:cs typeface="Calibri"/>
                </a:rPr>
                <a:t>Spatial Learning Speed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6312" y="5403056"/>
              <a:ext cx="11387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2D 紙圖耗時對照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6312" y="5612606"/>
              <a:ext cx="17387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3D 沉浸式快速建立空間感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000500" y="4572000"/>
            <a:ext cx="3429000" cy="1333500"/>
            <a:chOff x="4000500" y="4572000"/>
            <a:chExt cx="3429000" cy="1333500"/>
          </a:xfrm>
        </p:grpSpPr>
        <p:sp>
          <p:nvSpPr>
            <p:cNvPr id="31" name="Rectangle 31"/>
            <p:cNvSpPr/>
            <p:nvPr/>
          </p:nvSpPr>
          <p:spPr>
            <a:xfrm>
              <a:off x="4000500" y="4572000"/>
              <a:ext cx="34290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000500" y="4572000"/>
              <a:ext cx="76200" cy="1333500"/>
            </a:xfrm>
            <a:prstGeom prst="roundRect">
              <a:avLst>
                <a:gd name="adj" fmla="val 50000"/>
              </a:avLst>
            </a:prstGeom>
            <a:solidFill>
              <a:srgbClr val="00ABC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269980" y="4828785"/>
              <a:ext cx="223039" cy="247153"/>
              <a:chOff x="4269980" y="4828785"/>
              <a:chExt cx="223039" cy="24715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343400" y="49022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269980" y="4828785"/>
                <a:ext cx="223039" cy="247153"/>
              </a:xfrm>
              <a:custGeom>
                <a:avLst/>
                <a:gdLst/>
                <a:ahLst/>
                <a:cxnLst/>
                <a:rect l="l" t="t" r="r" b="b"/>
                <a:pathLst>
                  <a:path w="223039" h="247153">
                    <a:moveTo>
                      <a:pt x="183364" y="183359"/>
                    </a:moveTo>
                    <a:lnTo>
                      <a:pt x="129477" y="237245"/>
                    </a:lnTo>
                    <a:cubicBezTo>
                      <a:pt x="119560" y="247153"/>
                      <a:pt x="103492" y="247153"/>
                      <a:pt x="93575" y="237245"/>
                    </a:cubicBezTo>
                    <a:lnTo>
                      <a:pt x="39676" y="183359"/>
                    </a:lnTo>
                    <a:cubicBezTo>
                      <a:pt x="0" y="143682"/>
                      <a:pt x="1" y="79353"/>
                      <a:pt x="39678" y="39676"/>
                    </a:cubicBezTo>
                    <a:cubicBezTo>
                      <a:pt x="79355" y="0"/>
                      <a:pt x="143684" y="0"/>
                      <a:pt x="183361" y="39676"/>
                    </a:cubicBezTo>
                    <a:cubicBezTo>
                      <a:pt x="223038" y="79353"/>
                      <a:pt x="223039" y="143682"/>
                      <a:pt x="183364" y="183359"/>
                    </a:cubicBez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4629150" y="48482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儲位定位準確率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34865" y="5106352"/>
              <a:ext cx="1327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BC2"/>
                  </a:solidFill>
                  <a:latin typeface="Calibri"/>
                  <a:ea typeface="Microsoft YaHei"/>
                  <a:cs typeface="Calibri"/>
                </a:rPr>
                <a:t>Location Accuracy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14812" y="5403056"/>
              <a:ext cx="838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2D 抽象對照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14812" y="5612606"/>
              <a:ext cx="11387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3D 真實比例對位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239000" y="4572000"/>
            <a:ext cx="3429000" cy="1333500"/>
            <a:chOff x="7239000" y="4572000"/>
            <a:chExt cx="3429000" cy="1333500"/>
          </a:xfrm>
        </p:grpSpPr>
        <p:sp>
          <p:nvSpPr>
            <p:cNvPr id="41" name="Rectangle 41"/>
            <p:cNvSpPr/>
            <p:nvPr/>
          </p:nvSpPr>
          <p:spPr>
            <a:xfrm>
              <a:off x="7239000" y="4572000"/>
              <a:ext cx="34290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8E8E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39000" y="4572000"/>
              <a:ext cx="76200" cy="1333500"/>
            </a:xfrm>
            <a:prstGeom prst="roundRect">
              <a:avLst>
                <a:gd name="adj" fmla="val 50000"/>
              </a:avLst>
            </a:prstGeom>
            <a:solidFill>
              <a:srgbClr val="35B835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505700" y="4838700"/>
              <a:ext cx="228600" cy="228600"/>
              <a:chOff x="7505700" y="4838700"/>
              <a:chExt cx="228600" cy="2286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505700" y="4838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620000" y="48895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867650" y="48482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0000"/>
                  </a:solidFill>
                  <a:latin typeface="微軟正黑體"/>
                  <a:ea typeface="Microsoft JhengHei"/>
                  <a:cs typeface="微軟正黑體"/>
                </a:rPr>
                <a:t>獨立上線時間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73365" y="5106352"/>
              <a:ext cx="15262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5B835"/>
                  </a:solidFill>
                  <a:latin typeface="Calibri"/>
                  <a:ea typeface="Microsoft YaHei"/>
                  <a:cs typeface="Calibri"/>
                </a:rPr>
                <a:t>Time to Independence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53312" y="540305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2D 長時間現場帶場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53312" y="5612606"/>
              <a:ext cx="11387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5B5B"/>
                  </a:solidFill>
                  <a:latin typeface="微軟正黑體"/>
                  <a:ea typeface="Microsoft JhengHei"/>
                  <a:cs typeface="微軟正黑體"/>
                </a:rPr>
                <a:t>3D 自主反覆練習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6477000"/>
            <a:ext cx="11049000" cy="238125"/>
            <a:chOff x="571500" y="6477000"/>
            <a:chExt cx="11049000" cy="238125"/>
          </a:xfrm>
        </p:grpSpPr>
        <p:sp>
          <p:nvSpPr>
            <p:cNvPr id="51" name="Rectangle 51"/>
            <p:cNvSpPr/>
            <p:nvPr/>
          </p:nvSpPr>
          <p:spPr>
            <a:xfrm>
              <a:off x="571500" y="6477000"/>
              <a:ext cx="11049000" cy="209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320" y="6532245"/>
              <a:ext cx="5237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PEGATRON Corporation © All Rights Reserved. No Further Distribution without Permission.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34795" y="6532245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P04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  <p:bldP spid="20" grpId="0"/>
      <p:bldP spid="30" grpId="0"/>
      <p:bldP spid="40" grpId="0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12294870" y="0"/>
            <a:ext cx="915621" cy="4331303"/>
            <a:chOff x="12294870" y="0"/>
            <a:chExt cx="915621" cy="4331303"/>
          </a:xfrm>
        </p:grpSpPr>
        <p:grpSp>
          <p:nvGrpSpPr>
            <p:cNvPr id="12" name="Group 12"/>
            <p:cNvGrpSpPr/>
            <p:nvPr/>
          </p:nvGrpSpPr>
          <p:grpSpPr>
            <a:xfrm>
              <a:off x="12294870" y="0"/>
              <a:ext cx="168402" cy="4331303"/>
              <a:chOff x="12294870" y="0"/>
              <a:chExt cx="168402" cy="4331303"/>
            </a:xfrm>
          </p:grpSpPr>
          <p:sp>
            <p:nvSpPr>
              <p:cNvPr id="3" name="Rectangle 3"/>
              <p:cNvSpPr/>
              <p:nvPr/>
            </p:nvSpPr>
            <p:spPr>
              <a:xfrm>
                <a:off x="12294870" y="0"/>
                <a:ext cx="168402" cy="481298"/>
              </a:xfrm>
              <a:prstGeom prst="rect">
                <a:avLst/>
              </a:prstGeom>
              <a:solidFill>
                <a:srgbClr val="FFFFFF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4" name="Rectangle 4"/>
              <p:cNvSpPr/>
              <p:nvPr/>
            </p:nvSpPr>
            <p:spPr>
              <a:xfrm>
                <a:off x="12294870" y="481298"/>
                <a:ext cx="168402" cy="481298"/>
              </a:xfrm>
              <a:prstGeom prst="rect">
                <a:avLst/>
              </a:prstGeom>
              <a:solidFill>
                <a:srgbClr val="000000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12294870" y="962501"/>
                <a:ext cx="168402" cy="481298"/>
              </a:xfrm>
              <a:prstGeom prst="rect">
                <a:avLst/>
              </a:prstGeom>
              <a:solidFill>
                <a:srgbClr val="5F5B5B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12294870" y="1443800"/>
                <a:ext cx="168402" cy="481298"/>
              </a:xfrm>
              <a:prstGeom prst="rect">
                <a:avLst/>
              </a:prstGeom>
              <a:solidFill>
                <a:srgbClr val="303030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2294870" y="1925098"/>
                <a:ext cx="168402" cy="481298"/>
              </a:xfrm>
              <a:prstGeom prst="rect">
                <a:avLst/>
              </a:prstGeom>
              <a:solidFill>
                <a:srgbClr val="E8E8E8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12294870" y="2406301"/>
                <a:ext cx="168402" cy="481298"/>
              </a:xfrm>
              <a:prstGeom prst="rect">
                <a:avLst/>
              </a:prstGeom>
              <a:solidFill>
                <a:srgbClr val="A69060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12294870" y="2887599"/>
                <a:ext cx="168402" cy="481298"/>
              </a:xfrm>
              <a:prstGeom prst="rect">
                <a:avLst/>
              </a:prstGeom>
              <a:solidFill>
                <a:srgbClr val="C1AB7A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2294870" y="3368802"/>
                <a:ext cx="168402" cy="481298"/>
              </a:xfrm>
              <a:prstGeom prst="rect">
                <a:avLst/>
              </a:prstGeom>
              <a:solidFill>
                <a:srgbClr val="00ABC2"/>
              </a:solidFill>
              <a:ln w="3172">
                <a:solidFill>
                  <a:srgbClr val="FFFFFF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2294870" y="3850005"/>
                <a:ext cx="168402" cy="481298"/>
              </a:xfrm>
              <a:prstGeom prst="rect">
                <a:avLst/>
              </a:prstGeom>
              <a:solidFill>
                <a:srgbClr val="1295D8"/>
              </a:solidFill>
              <a:ln w="3172">
                <a:solidFill>
                  <a:srgbClr val="FFFFFF"/>
                </a:solidFill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12463272" y="8572"/>
              <a:ext cx="747219" cy="4263390"/>
              <a:chOff x="12463272" y="8572"/>
              <a:chExt cx="747219" cy="426339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12463272" y="8572"/>
                <a:ext cx="747219" cy="461677"/>
                <a:chOff x="12463272" y="8572"/>
                <a:chExt cx="747219" cy="461677"/>
              </a:xfrm>
            </p:grpSpPr>
            <p:sp>
              <p:nvSpPr>
                <p:cNvPr id="13" name="Rectangle 13"/>
                <p:cNvSpPr/>
                <p:nvPr/>
              </p:nvSpPr>
              <p:spPr>
                <a:xfrm>
                  <a:off x="12463272" y="8572"/>
                  <a:ext cx="726472" cy="461677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2544549" y="54202"/>
                  <a:ext cx="308452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White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2544549" y="176122"/>
                  <a:ext cx="665942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255/255/255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2544549" y="298042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#FFFFFF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12463272" y="487775"/>
                <a:ext cx="492442" cy="461677"/>
                <a:chOff x="12463272" y="487775"/>
                <a:chExt cx="492442" cy="461677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12463272" y="487775"/>
                  <a:ext cx="492442" cy="461677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2544549" y="533405"/>
                  <a:ext cx="287110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Black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2544549" y="655325"/>
                  <a:ext cx="313788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0/0/0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2544549" y="777245"/>
                  <a:ext cx="372480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#00000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12463272" y="1041464"/>
                <a:ext cx="572548" cy="338518"/>
                <a:chOff x="12463272" y="1041464"/>
                <a:chExt cx="572548" cy="338518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12463272" y="1041464"/>
                  <a:ext cx="572548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2544549" y="1087188"/>
                  <a:ext cx="436508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95/91/91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544549" y="1209108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#5E5B5B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12463272" y="1515142"/>
                <a:ext cx="572548" cy="338518"/>
                <a:chOff x="12463272" y="1515142"/>
                <a:chExt cx="572548" cy="338518"/>
              </a:xfrm>
            </p:grpSpPr>
            <p:sp>
              <p:nvSpPr>
                <p:cNvPr id="27" name="Rectangle 27"/>
                <p:cNvSpPr/>
                <p:nvPr/>
              </p:nvSpPr>
              <p:spPr>
                <a:xfrm>
                  <a:off x="12463272" y="1515142"/>
                  <a:ext cx="572548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2544549" y="1560867"/>
                  <a:ext cx="489865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48/48/48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2544549" y="1682787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#303030</a:t>
                  </a: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12463272" y="1997392"/>
                <a:ext cx="747219" cy="338518"/>
                <a:chOff x="12463272" y="1997392"/>
                <a:chExt cx="747219" cy="338518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12463272" y="1997392"/>
                  <a:ext cx="726472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2544549" y="2043022"/>
                  <a:ext cx="665942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232/232/232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2544549" y="2164942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#E8E8E8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12463272" y="2476881"/>
                <a:ext cx="675227" cy="338518"/>
                <a:chOff x="12463272" y="2476881"/>
                <a:chExt cx="675227" cy="338518"/>
              </a:xfrm>
            </p:grpSpPr>
            <p:sp>
              <p:nvSpPr>
                <p:cNvPr id="35" name="Rectangle 35"/>
                <p:cNvSpPr/>
                <p:nvPr/>
              </p:nvSpPr>
              <p:spPr>
                <a:xfrm>
                  <a:off x="12463272" y="2476881"/>
                  <a:ext cx="675227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2544549" y="2522606"/>
                  <a:ext cx="55389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166/144/96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2544549" y="2644526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#A69060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12463272" y="2974658"/>
                <a:ext cx="726472" cy="338518"/>
                <a:chOff x="12463272" y="2974658"/>
                <a:chExt cx="726472" cy="338518"/>
              </a:xfrm>
            </p:grpSpPr>
            <p:sp>
              <p:nvSpPr>
                <p:cNvPr id="39" name="Rectangle 39"/>
                <p:cNvSpPr/>
                <p:nvPr/>
              </p:nvSpPr>
              <p:spPr>
                <a:xfrm>
                  <a:off x="12463272" y="2974658"/>
                  <a:ext cx="726472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2544549" y="3020287"/>
                  <a:ext cx="559229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193/171/122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2544549" y="3142207"/>
                  <a:ext cx="404494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#C1AB7A</a:t>
                  </a:r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12463272" y="3440144"/>
                <a:ext cx="623888" cy="338518"/>
                <a:chOff x="12463272" y="3440144"/>
                <a:chExt cx="623888" cy="338518"/>
              </a:xfrm>
            </p:grpSpPr>
            <p:sp>
              <p:nvSpPr>
                <p:cNvPr id="43" name="Rectangle 43"/>
                <p:cNvSpPr/>
                <p:nvPr/>
              </p:nvSpPr>
              <p:spPr>
                <a:xfrm>
                  <a:off x="12463272" y="3440144"/>
                  <a:ext cx="623888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2544549" y="3485774"/>
                  <a:ext cx="468522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0/171/194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2544549" y="3607694"/>
                  <a:ext cx="431173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#00ABC2</a:t>
                  </a:r>
                </a:p>
              </p:txBody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12463272" y="3933444"/>
                <a:ext cx="675227" cy="338518"/>
                <a:chOff x="12463272" y="3933444"/>
                <a:chExt cx="675227" cy="338518"/>
              </a:xfrm>
            </p:grpSpPr>
            <p:sp>
              <p:nvSpPr>
                <p:cNvPr id="47" name="Rectangle 47"/>
                <p:cNvSpPr/>
                <p:nvPr/>
              </p:nvSpPr>
              <p:spPr>
                <a:xfrm>
                  <a:off x="12463272" y="3933444"/>
                  <a:ext cx="675227" cy="338518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2544549" y="3979169"/>
                  <a:ext cx="527215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18/149/216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12544549" y="4101089"/>
                  <a:ext cx="404494" cy="1626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00" dirty="0">
                      <a:solidFill>
                        <a:srgbClr val="000000"/>
                      </a:solidFill>
                      <a:latin typeface="Calibri"/>
                      <a:ea typeface="Microsoft YaHei"/>
                      <a:cs typeface="Calibri"/>
                    </a:rPr>
                    <a:t>#1295D8</a:t>
                  </a:r>
                </a:p>
              </p:txBody>
            </p:sp>
          </p:grpSp>
        </p:grpSp>
      </p:grpSp>
      <p:grpSp>
        <p:nvGrpSpPr>
          <p:cNvPr id="57" name="Group 57"/>
          <p:cNvGrpSpPr/>
          <p:nvPr/>
        </p:nvGrpSpPr>
        <p:grpSpPr>
          <a:xfrm>
            <a:off x="1441704" y="6481858"/>
            <a:ext cx="9308592" cy="215456"/>
            <a:chOff x="1441704" y="6481858"/>
            <a:chExt cx="9308592" cy="215456"/>
          </a:xfrm>
        </p:grpSpPr>
        <p:sp>
          <p:nvSpPr>
            <p:cNvPr id="55" name="Rectangle 55"/>
            <p:cNvSpPr/>
            <p:nvPr/>
          </p:nvSpPr>
          <p:spPr>
            <a:xfrm>
              <a:off x="1441704" y="6481858"/>
              <a:ext cx="9308592" cy="21545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522981" y="6527487"/>
              <a:ext cx="4689035" cy="1626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5F5B5B"/>
                  </a:solidFill>
                  <a:latin typeface="Calibri"/>
                  <a:ea typeface="Microsoft YaHei"/>
                  <a:cs typeface="Calibri"/>
                </a:rPr>
                <a:t> PEGATRON Corporation © All Rights Reserved. No Further Distribution without Permission.</a:t>
              </a:r>
            </a:p>
          </p:txBody>
        </p:sp>
      </p:grpSp>
      <p:pic>
        <p:nvPicPr>
          <p:cNvPr id="64" name="圖片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" y="21549"/>
            <a:ext cx="12199116" cy="6836451"/>
          </a:xfrm>
          <a:prstGeom prst="rect">
            <a:avLst/>
          </a:prstGeom>
        </p:spPr>
      </p:pic>
      <p:grpSp>
        <p:nvGrpSpPr>
          <p:cNvPr id="63" name="Group 63"/>
          <p:cNvGrpSpPr/>
          <p:nvPr/>
        </p:nvGrpSpPr>
        <p:grpSpPr>
          <a:xfrm>
            <a:off x="0" y="14061"/>
            <a:ext cx="12192000" cy="6858000"/>
            <a:chOff x="0" y="0"/>
            <a:chExt cx="12192000" cy="6858000"/>
          </a:xfrm>
        </p:grpSpPr>
        <p:sp>
          <p:nvSpPr>
            <p:cNvPr id="58" name="Rectangle 5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00000">
                <a:alpha val="4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866513" y="2404110"/>
              <a:ext cx="245897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微軟正黑體"/>
                  <a:ea typeface="Microsoft JhengHei"/>
                  <a:cs typeface="微軟正黑體"/>
                </a:rPr>
                <a:t>謝謝聆聽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313426" y="3169920"/>
              <a:ext cx="15651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Thank You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43500" y="3714750"/>
              <a:ext cx="1905000" cy="38100"/>
            </a:xfrm>
            <a:prstGeom prst="rect">
              <a:avLst/>
            </a:prstGeom>
            <a:solidFill>
              <a:srgbClr val="A6906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754880" y="391763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微軟正黑體"/>
                  <a:ea typeface="Microsoft JhengHei"/>
                  <a:cs typeface="微軟正黑體"/>
                </a:rPr>
                <a:t>智慧倉儲數位孿生培訓平臺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7" grpId="0"/>
      <p:bldP spid="6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1641</Words>
  <Application>Microsoft Office PowerPoint</Application>
  <PresentationFormat>寬螢幕</PresentationFormat>
  <Paragraphs>184</Paragraphs>
  <Slides>7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7" baseType="lpstr">
      <vt:lpstr>等线</vt:lpstr>
      <vt:lpstr>Microsoft YaHei</vt:lpstr>
      <vt:lpstr>SimHei</vt:lpstr>
      <vt:lpstr>Microsoft JhengHei</vt:lpstr>
      <vt:lpstr>Microsoft JhengHei</vt:lpstr>
      <vt:lpstr>新細明體</vt:lpstr>
      <vt:lpstr>Arial</vt:lpstr>
      <vt:lpstr>Calibri</vt:lpstr>
      <vt:lpstr>Segoe UI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Ziy Yan(晏治涌_PTB)</dc:creator>
  <cp:keywords/>
  <dc:description>generated using python-pptx</dc:description>
  <cp:lastModifiedBy>Ziy Yan(晏治涌_PTB)</cp:lastModifiedBy>
  <cp:revision>6</cp:revision>
  <dcterms:created xsi:type="dcterms:W3CDTF">2013-01-27T09:14:16Z</dcterms:created>
  <dcterms:modified xsi:type="dcterms:W3CDTF">2026-09-15T01:35:39Z</dcterms:modified>
  <cp:category/>
</cp:coreProperties>
</file>